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1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C10E21">
              <a:alpha val="60000"/>
            </a:srgbClr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76272"/>
            <a:ext cx="530352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828800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QUALITY IMPROVEMENT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EMPOWER-CKM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Navigator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Resident-Designed Digital Health Platform for CKM Patient Education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Sokratis Zisis, MD  ·  Thomas Tsai, MD  ·  Juan Villareal del Moral, 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 Ji-Yoon Lee, MD  ·  Lucca Gesteira, MD  ·  Maysa Vilbert, 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Internal Medicine Residency Program  |  MetroWest Medical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February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6400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❤️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🫘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76656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⚡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8368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D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Cardio · Kidney · Metabolic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0E21"/>
                </a:solidFill>
              </a:rPr>
              <a:t>IRB Protocol #: Pending  |  Version Date: February 24,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Disclosures &amp; Roadmap for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36576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3657600" cy="34747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DISCLOSURES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financial conflicts of interest to disclose.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project was funded using no external grants.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CKM Navigator application was built entirely by the resident team using AI-assisted coding tools at no cost to the institution.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3646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IRB review is currently pending. This is a Quality Improvement (QI)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24528" y="1143000"/>
            <a:ext cx="45720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24528" y="1143000"/>
            <a:ext cx="4572000" cy="347472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1636776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Clinical Problem — CKM Syndrome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07408" y="2011680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Local Gap — What We Lost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07408" y="2386584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350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Solution — CKM Navigator 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7408" y="2761488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 Walkthrough &amp; Key 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7408" y="3136392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099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AI Health Assistant (RAG)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07408" y="3511296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We Built It — "Clinician-Coder"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07408" y="3886200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849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IRB Study Design &amp; Your Role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07408" y="4261104"/>
            <a:ext cx="274320" cy="27432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 &amp; Call to Action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Clinical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Cardio-Kidney-Metabolic (CKM) Syndrome — A Systems-Level Epidemic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2468880" cy="1920240"/>
          </a:xfrm>
          <a:prstGeom prst="ellipse">
            <a:avLst/>
          </a:prstGeom>
          <a:solidFill>
            <a:srgbClr val="C10E21">
              <a:alpha val="45000"/>
            </a:srgbClr>
          </a:solidFill>
          <a:ln w="25400">
            <a:solidFill>
              <a:srgbClr val="C10E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❤️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Cardiovascular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2468880" cy="1920240"/>
          </a:xfrm>
          <a:prstGeom prst="ellipse">
            <a:avLst/>
          </a:prstGeom>
          <a:solidFill>
            <a:srgbClr val="990000">
              <a:alpha val="45000"/>
            </a:srgbClr>
          </a:solidFill>
          <a:ln w="25400">
            <a:solidFill>
              <a:srgbClr val="99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737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Metabolic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Dysfunction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560320"/>
            <a:ext cx="2468880" cy="1920240"/>
          </a:xfrm>
          <a:prstGeom prst="ellipse">
            <a:avLst/>
          </a:prstGeom>
          <a:solidFill>
            <a:srgbClr val="636466">
              <a:alpha val="45000"/>
            </a:srgbClr>
          </a:solidFill>
          <a:ln w="25400">
            <a:solidFill>
              <a:srgbClr val="636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7889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Chronic Kidney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2377440"/>
            <a:ext cx="1143000" cy="82296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37744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CKM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1078992"/>
            <a:ext cx="301752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AHA 2023 Presidential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Advisory — Key Facts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61888" y="18013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190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CKM is a unified disease spectrum — NOT isolated comorbidities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61888" y="230428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221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Adiposity, hypertension, and dysglycemia drive all 3 organ systems simultaneously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61888" y="28072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724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Early-stage CKM (Stage 1-2) is reversible — the optimal intervention window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61888" y="33101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227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Effective CKM counseling requires integrated, patient-centered literacy tools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61888" y="3721608"/>
            <a:ext cx="164592" cy="16459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7307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Ndumele CE, et al. Circulation. 2023;148:1606-1635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Local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MetroWest Continuity Clinic — A Perfect Storm of Unmet Need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206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15568"/>
            <a:ext cx="164592" cy="16002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👩‍⚕️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43584" y="1252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Lost Diabetes Educator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43584" y="163677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Role eliminated post-COVID-19. Residents now counsel without specialist support.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115568"/>
            <a:ext cx="4206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115568"/>
            <a:ext cx="164592" cy="16002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32704" y="1252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Time-Constrained Residents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32704" y="163677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Brief clinic encounters cannot accommodate complex CKM nutritional counseling.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852928"/>
            <a:ext cx="4206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852928"/>
            <a:ext cx="164592" cy="16002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🌎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43584" y="2990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Language Barriers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43584" y="33741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Substantial Portuguese (Brazilian) and Spanish-speaking immigrant population — English-only materials fall short.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2852928"/>
            <a:ext cx="42062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852928"/>
            <a:ext cx="164592" cy="16002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32704" y="29900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Static Educational Materials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32704" y="33741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Existing handouts are text-heavy, culturally generic, and non-interactive — low efficacy for health literacy.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" y="457200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💡  &gt;60% of the clinic panel meets criteria for CKM Stage 1 or 2 — yet receives no structured digital education.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1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Solution: CKM Navigator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interactive, multilingual, AI-powered patient education platform — designed by residents, for patients.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834640" cy="1508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700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6-Module Curriculum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130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Evidence-based CKM content at pre-high school reading level. Covers nutrition, movement, labs, medications, and risk staging.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36192"/>
            <a:ext cx="2834640" cy="1508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77640" y="1700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Multilingual by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2130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localization in English, Spanish (Castilian), and Portuguese (Brazilian) — validated by native-speaking residents.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36192"/>
            <a:ext cx="2834640" cy="1508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49440" y="1700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Health Assistant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2130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RAG-powered chatbot strictly grounded in the app's own curriculum — no hallucinations, no open-internet access.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27832"/>
            <a:ext cx="2834640" cy="1508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33924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Progress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" y="38221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Visual learning tracker shows completed modules and encourages continued engagement.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227832"/>
            <a:ext cx="2834640" cy="1508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10712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977640" y="33924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Doctor Passport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0712" y="38221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Personalized CKM staging output that patients can reference in shared decision-making with their physician.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227832"/>
            <a:ext cx="2834640" cy="1508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82512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49440" y="33924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38221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CSP headers, XSS prevention (DOMPurify), rate-limited API proxy, and ephemeral session data — zero PHI stored.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Educational Curriculum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Interactive Modules — Evidence-Based, Patient-Centered, Linguistically Accessible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24912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16152"/>
            <a:ext cx="411480" cy="41148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1655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CKM Health?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House analogy: Foundation (metabolism) · Plumbing (kidneys) · Wiring (heart). Interactive anatomy explorer.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078992"/>
            <a:ext cx="2724912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216152"/>
            <a:ext cx="411480" cy="41148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732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10128" y="1655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Plate &amp; Your Health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208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Diabetes Plate Method. Interactive food label trainer: serving sizes, sodium, added sugars.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1078992"/>
            <a:ext cx="2724912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216152"/>
            <a:ext cx="411480" cy="41148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65976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08776" y="1655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 More, Live Better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20208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150-min/week guideline. Zone 2 cardio vs. resistance training. MA winter-specific indoor options.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724912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971800"/>
            <a:ext cx="411480" cy="41148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11480" y="3410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Your Numbers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7764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HbA1c, blood pressure, lipid panel interpretation. Introduces eGFR and UACR for early CKD detection.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2968" y="2834640"/>
            <a:ext cx="2724912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10128" y="2971800"/>
            <a:ext cx="411480" cy="41148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6732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310128" y="3410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Treatment Options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10128" y="37764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Medication education by mechanism class. Cardio-protective "double duty" agents (SGLT2i, GLP-1, ACEi/ARB).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71616" y="2834640"/>
            <a:ext cx="2724912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08776" y="2971800"/>
            <a:ext cx="411480" cy="411480"/>
          </a:xfrm>
          <a:prstGeom prst="ellipse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65976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208776" y="3410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Personalized Assessment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08776" y="37764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CKM staging quiz → "Doctor Passport" — an educational CKM stage estimate to prompt provider discussion.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1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AI Health Assistant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End-to-End Retrieval-Augmented Generation (RAG) — Closed-Domain, Hallucination-Controlled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554480" cy="237744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316736"/>
            <a:ext cx="512064" cy="512064"/>
          </a:xfrm>
          <a:prstGeom prst="ellipse">
            <a:avLst/>
          </a:prstGeom>
          <a:solidFill>
            <a:srgbClr val="C10E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16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User asks a health question in English, Spanish, or Portuguese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395728"/>
            <a:ext cx="2468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2860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38528" y="1188720"/>
            <a:ext cx="1554480" cy="237744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9736" y="1316736"/>
            <a:ext cx="512064" cy="512064"/>
          </a:xfrm>
          <a:prstGeom prst="ellipse">
            <a:avLst/>
          </a:prstGeom>
          <a:solidFill>
            <a:srgbClr val="C10E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736" y="1316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8528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29968" y="23957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BM25 keyword + semantic vector clustering across full curriculum dataset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93008" y="2395728"/>
            <a:ext cx="2468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22860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48456" y="1188720"/>
            <a:ext cx="1554480" cy="237744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9664" y="1316736"/>
            <a:ext cx="512064" cy="512064"/>
          </a:xfrm>
          <a:prstGeom prst="ellipse">
            <a:avLst/>
          </a:prstGeom>
          <a:solidFill>
            <a:srgbClr val="C10E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9664" y="1316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48456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39896" y="23957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 3 most relevant educational chunks extracted and formatted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02936" y="2395728"/>
            <a:ext cx="2468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0096" y="22860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58384" y="1188720"/>
            <a:ext cx="1554480" cy="237744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79592" y="1316736"/>
            <a:ext cx="512064" cy="512064"/>
          </a:xfrm>
          <a:prstGeom prst="ellipse">
            <a:avLst/>
          </a:prstGeom>
          <a:solidFill>
            <a:srgbClr val="C10E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9592" y="1316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58384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9824" y="23957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Qwen-Flash model receives curriculum context + user prompt via secure proxy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12864" y="2395728"/>
            <a:ext cx="2468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0024" y="22860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68312" y="1188720"/>
            <a:ext cx="1554480" cy="237744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89520" y="1316736"/>
            <a:ext cx="512064" cy="512064"/>
          </a:xfrm>
          <a:prstGeom prst="ellipse">
            <a:avLst/>
          </a:prstGeom>
          <a:solidFill>
            <a:srgbClr val="C10E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316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68312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59752" y="2395728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Answer returned with [Source X] citations and medical disclaimers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3730752"/>
            <a:ext cx="8686800" cy="86868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3730752"/>
            <a:ext cx="1645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SAFETY DESIGN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114800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system prompt mathematically constrains the LLM to answer ONLY from supplied curriculum context · Refuses diagnostic / emergency prompts · Mandates medical disclaimers · No open-internet access · Rate-limited (10 req/min/IP) via Node.js/Express proxy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Without a Vendor — Vanilla Web Stack + Secure 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Vanilla HTML5 · CSS3 · Modern JS (ES2022)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 Elements · CSS Micro-Animations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Architecture: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Modular Controller SPA (v3.1.0) · ~9,200 lines · 20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feature controllers · PWA + Service Worker offline-first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Backend: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72768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Node.js / Express.js proxy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Session management · Rate limiting · CORS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191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Layer: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3163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Alibaba Qwen-Flash LLM (qwen-flash-2025-07-28-us)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Custom HybridSearchEngine (BM25 + cosine-RRF)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36941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DOMPurify XSS protection · CSP headers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PHI storage · Ephemeral session state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i18n: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JSON locale files — EN / ES (MX) / PT (BR)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Native-speaker validated translations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078992"/>
            <a:ext cx="42062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78992"/>
            <a:ext cx="4206240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"Clinician-Coder-Builder" Paradigm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entirely using AI-agent CLIs: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Claude Code · Google Gemini · OpenAI Codex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Methodology: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Iterative conversational prompting directed AI agents to scaffold features, debug syntax, inject GPU-accelerated CSS, and structure data flows — without a single external vendor.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Significance: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Validates a zero-cost, scalable "Clinician-Coded" pathway for frontline physicians to bridge implementation gaps — from guideline to bedside tool — autonomously.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"If we can do this from a continuity clinic in Framingham, so can every residency program in the country."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Patient-Facing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Personalization, Progress, and Clinical Utility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816352" cy="3630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Learning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0487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personalized home screen tracking each user's progress across all 6 modules. Visual progress rings and completion badges encourage self-directed learning. Bilingual welcome messages maintain cultural connection.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Progress tracking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Visual feedback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Motivational design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1078992"/>
            <a:ext cx="2816352" cy="3630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01568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55848" y="1947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Doctor Passport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40487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 completing the staging quiz, patients receive a portable educational summary of their estimated CKM stage. Designed as a conversation starter — NOT a diagnostic — that residents can reference directly in the exam room.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Shared decision-making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55848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Educational staging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55848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Non-diagnostic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63056" y="1078992"/>
            <a:ext cx="2816352" cy="3630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45936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300216" y="1947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Adaptive Curriculum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0216" y="2404872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Residents can navigate directly to the most relevant modules (e.g., jump to medications for a complex Type 2 DM patient). Modular design means 5-minute focused sessions or a full 30-minute deep dive.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0216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Time-flexible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00216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Clinician-directed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0216" y="3986784"/>
            <a:ext cx="2514600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39867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● Modular navigation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 &amp; Privacy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PHI · Hardened Frontend · Secure AI Proxy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920240" cy="1170432"/>
          </a:xfrm>
          <a:prstGeom prst="rect">
            <a:avLst/>
          </a:prstGeom>
          <a:solidFill>
            <a:srgbClr val="2E7D52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52144"/>
            <a:ext cx="1920240" cy="63203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23/23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757843"/>
            <a:ext cx="1920240" cy="44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Security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78992"/>
            <a:ext cx="1920240" cy="1170432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52144"/>
            <a:ext cx="1920240" cy="63203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50592" y="1757843"/>
            <a:ext cx="1920240" cy="44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XSS Attack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Vectors Remaining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78992"/>
            <a:ext cx="1920240" cy="1170432"/>
          </a:xfrm>
          <a:prstGeom prst="rect">
            <a:avLst/>
          </a:prstGeom>
          <a:solidFill>
            <a:srgbClr val="990000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152144"/>
            <a:ext cx="1920240" cy="63203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26864" y="1757843"/>
            <a:ext cx="1920240" cy="44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PHI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078992"/>
            <a:ext cx="1920240" cy="1170432"/>
          </a:xfrm>
          <a:prstGeom prst="rect">
            <a:avLst/>
          </a:prstGeom>
          <a:solidFill>
            <a:srgbClr val="5C6BC0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152144"/>
            <a:ext cx="1920240" cy="63203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03136" y="1757843"/>
            <a:ext cx="1920240" cy="44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Requests/Min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Rate Limit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95728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API Key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client-side API keys. All LLM calls route through a Node.js/Express backend proxy. Keys live in environment variables only.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2395728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13048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XSS Prevention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3048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DOMPurify integrated for all innerHTML operations. 44 inline event handlers removed and replaced with event delegation.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2395728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4496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57416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Content Security Policy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57416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CSP headers restrict script sources, connection origins, and image sources — blocking injection attacks at the browser level.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75888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Ephemeral Session State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backend database. Patient interaction data lives only in device localStorage, cleared on session refresh.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18688" y="3675888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10128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813048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Closed AI Domain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13048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LLM is mathematically constrained to respond only from the curriculum context block — hallucinations are structurally impossible.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3675888"/>
            <a:ext cx="281635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54496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57416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Hygiene Protocol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57416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Medical-grade disinfectant wipes (Purple Top Sani-Cloths) between every patient — documented in our IRB protocol.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IRB Study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EMPOWER-CKM — A Prospective Quality Improvement Study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Title: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Educating and Motivating Patients On Wellness through Effective Resident-led CKM-guidance via the CKM Navigator Web Application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Prospective Quality Improvement — Pre-Post Intervention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Setting: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53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MetroWest Medical Center Resident Continuity Clinic, Framingham, 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Timeline: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307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I: Mar 2026 (Pre-survey + Training)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II: Mar–May 2026 (Intervention)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III: Jun 2026 (Post-survey + Analysis)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N: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5079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Residents: 20–25  ·  Patient Encounters: 50–100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078992"/>
            <a:ext cx="42062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78992"/>
            <a:ext cx="4206240" cy="347472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Study Endpoints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36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PRIMARY ENDPOINT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Change in resident-reported confidence scores for CKM education (5-point Likert scale). Hypothesis: ≥25% improvement post-intervention.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Domains assessed: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Explaining the CKM connection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Counseling on the Plate Method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Navigating language barriers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246120"/>
            <a:ext cx="420624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SECONDARY ENDPOINT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5844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Tool adoption rate and qualitative resident feedback.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engagement: &gt;80% module completion per encounter.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Statistical analysis: Student's t-test (α = 0.05, two-tailed).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Study Population &amp; Eligibility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Prospective Enrollment — Continuity Clinic Patients with CKM Stage 1 or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✓  INCLUSION 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1848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572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Adults ≥18 years seen in the resident continuity clinic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95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CKM Stage 1: BMI ≥25 kg/m² or abdominal obesity without other metabolic risk factors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6440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186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CKM Stage 2 — any of: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Hypertension (BP ≥130/80 mmHg)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Hypertriglyceridemia (TG ≥135 mg/dL)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Prediabetes (HbA1c 5.7–6.4%)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Metabolic Syndrome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078992"/>
            <a:ext cx="42062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78992"/>
            <a:ext cx="420624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✗  EXCLUSION CRITERIA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618488"/>
            <a:ext cx="164592" cy="164592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15727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Emergent medical conditions requiring ED transfer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68296"/>
            <a:ext cx="164592" cy="164592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32257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Severe visual impairment or significant cognitive decline (e.g., advanced dementia) precluding meaningful engagement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18104"/>
            <a:ext cx="164592" cy="164592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0723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Children (&lt;18 years)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67912"/>
            <a:ext cx="164592" cy="164592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8221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specific targeting of prisoners or pregnant women (may be incidentally included without increased risk)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553712"/>
            <a:ext cx="8549640" cy="34747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53712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Chart review indicates &gt;60% of the clinic panel meets Stage 1 or 2 criteria — ensuring adequate recruitment without external advertisement.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Intervention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the CKM Navigator is Used During a Clinic Encounter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15768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715768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Pre-Chart Review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8379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Resident identifies eligible patients via vital signs (BMI, BP) and problem list (pre-DM, HTN, HLD) before the encounter.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078992"/>
            <a:ext cx="2715768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78992"/>
            <a:ext cx="2715768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🗣️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82696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Verbal Assent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82696" y="18379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Resident offers the tool as part of routine counseling. Scripted waiver-based verbal assent (45 CFR 46.117(c)(2)).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078992"/>
            <a:ext cx="2715768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78992"/>
            <a:ext cx="2715768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1344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Language Selection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81344" y="18379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Patient and resident together select English, Spanish, or Portuguese. Culturally specific examples load automatically.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715768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2715768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" y="3264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Facilitated Session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5935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Resident navigates the 6-module curriculum on the iPad with the patient. Duration is flexible (5–30 min).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2834640"/>
            <a:ext cx="2715768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834640"/>
            <a:ext cx="2715768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8346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82696" y="3264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Staging &amp; Passport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82696" y="35935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Optional: Complete the CKM staging quiz to generate a Doctor Passport — a personalized, non-diagnostic educational summary.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2834640"/>
            <a:ext cx="2715768" cy="1618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2834640"/>
            <a:ext cx="2715768" cy="3840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28346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📝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81344" y="3264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De-identified Tally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81344" y="35935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Resident records: Language used, modules covered — on an anonymous tally sheet at the workstation. No PHI collected.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Role: Pre &amp; Post Questionnaires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Measuring What Matters — Resident Confidence as the Primary Outcome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0" cy="41148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PRE-INTERVENTION SURVEY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581912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NOW (March 2026)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brief, anonymous Google Form captures your BASELINE confidence in: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Explaining CKM health to a patient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Counseling on nutrition (Plate Method)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Addressing language/health literacy barriers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Using digital tools for patient education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Approximately 5 minutes to complete.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Completely anonymous — no identifying information collected.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315968"/>
            <a:ext cx="4114800" cy="3657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&gt;&gt; forms.gle/QQWrej2tzKRepRoFA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78992"/>
            <a:ext cx="420624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78992"/>
            <a:ext cx="4206240" cy="41148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78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POST-INTERVENTION SURVEY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581912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in June 2026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 3 months of using the CKM Navigator in clinic, the same anonymous domains are re-assessed.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Primary hypothesis: ≥25% improvement in mean confidence score across all domains.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feedback also shapes the next iteration of the tool — we specifically want to hear: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Did it save you time?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Did patients engage with it?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· What would make it better?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4315968"/>
            <a:ext cx="4206240" cy="3657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315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&gt;&gt; forms.gle/2r6g14WzeTBCaPH26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 Mitigation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 Risk Designation — Comprehensive Safeguards in Place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49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120" y="1078992"/>
            <a:ext cx="1005840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078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Physical: Pathogen Transmission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Risk: iPad surface contamination between patients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Mitigation: Medical-grade disinfectant wipes (Purple Top Sani-Cloths) before and after every patient encounter — exceeds standard daily-life hygiene threshold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8549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😟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60120" y="2267712"/>
            <a:ext cx="1005840" cy="3200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2677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Psychological: Health Anxiety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Risk: Patient anxiety related to 'organ damage' concepts or staging results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9077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Mitigation: The tool is used with a physician present at all times to provide positive framing. AI chatbot operates in strict closed-domain mode — cannot generate alarming extrapolations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56432"/>
            <a:ext cx="8549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60120" y="3456432"/>
            <a:ext cx="1005840" cy="320040"/>
          </a:xfrm>
          <a:prstGeom prst="rect">
            <a:avLst/>
          </a:prstGeom>
          <a:solidFill>
            <a:srgbClr val="1C7C6B"/>
          </a:solidFill>
          <a:ln w="12700">
            <a:solidFill>
              <a:srgbClr val="1C7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4564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NEGLIGIBLE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012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Privacy: Data Breach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5C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Risk: Breach of patient confidentiality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4096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Mitigation: No PHI entered. Backend acts only as AI proxy — no patient identifiers stored. Client-side state is ephemeral and cleared by browser refresh between patients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1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to Access the App &amp; Get Involved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251960" cy="3794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🌐  Access the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CKM Navigator is a web-based progressive web app (PWA) — no installation required.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 any browser on the clinic iPad (or your own phone/laptop) and navigate to the app URL.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app works offline thanks to service worker caching — clinic Wi-Fi interruptions will not disrupt an active session.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iPads are available at the Firm B workroom for the duration of the study.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4343400"/>
            <a:ext cx="4251960" cy="4572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📱  Training Session: 30 minutes during Oyster Rounds or Ambulatory Block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251960" cy="37947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07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🙌  Three Ways to Help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64608" y="17190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7373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Complete the Pre-Survey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08483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minutes, anonymous. Establishes your baseline confidence before you start using the app.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64608" y="272491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2743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Try it in Clinic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309067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the CKM Navigator in your next continuity clinic with an eligible patient. Speak with the team if you need a demo.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64608" y="37307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Provide Feedback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409651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Your qualitative experience — what worked, what didn't, what could be added — directly shapes the tool's next version.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Note for Program Leadership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Institutional Value, Educational Impact &amp; Future Vision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64592" cy="162763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70432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Milestone Competencies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CKM Navigator directly addresses ACGME milestones in patient education, health literacy, and practice-based learning. Resident participation contributes to documented ambulatory care competency.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164592" cy="1627632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05272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Cost to Institution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05272" y="1645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entirely using AI-assisted coding CLIs at no vendor cost. The app runs on existing clinic hardware (iPads) and open-source infrastructure. Hosting cost is negligible.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164592" cy="162763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70432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Publication Potential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474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Pre-post QI data from 20-25 residents and 50-100 patient encounters is statistically powered for internal medicine journal submission (e.g., JGIM, AIM, GME-focused venues).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16052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26080"/>
            <a:ext cx="164592" cy="162763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05272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Scalable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05272" y="3474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'Clinician-Coder-Builder' methodology is reproducible at any residency program. This project serves as a proof-of-concept that frontline physicians can develop robust digital health tools without IT department support.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681728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welcome faculty advisors, core faculty mentors, and program coordinator support. Please speak with any member of the team.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5760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2 Vision — Expanding Impact Beyond MetroWest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15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1216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Native iPad App (PWA → App Store)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2450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Formal conversion to an installable iOS app via Progressive Web App → App Store pathway, enabling offline-first use without a browser.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078992"/>
            <a:ext cx="2715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86200" y="1216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Patient Outcomes as a Primary Endpoint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792224"/>
            <a:ext cx="2450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Phase 2 will track longitudinal patient metrics (HbA1c, weight, BP) to connect educational engagement with clinical outcomes.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078992"/>
            <a:ext cx="2715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08776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84848" y="1216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Expanded Language Support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1792224"/>
            <a:ext cx="2450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Addition of Haitian Creole, Mandarin, and Vietnamese locales to serve the full diversity of the MetroWest service area.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2715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552" y="2935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EHR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511296"/>
            <a:ext cx="2450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Exploration of HL7/FHIR-compatible data export from the Doctor Passport to enable structured documentation of patient education in Epic.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2798064"/>
            <a:ext cx="2715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886200" y="2935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Multi-Site Replication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3511296"/>
            <a:ext cx="2450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Open-source release of the codebase to allow other residency programs to fork, customize, and deploy their own CKM Navigator instances.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2798064"/>
            <a:ext cx="271576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08776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784848" y="2935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Community Health Worker Partnerships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8776" y="3511296"/>
            <a:ext cx="2450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 access beyond the clinic by equipping trained community health workers to use the Navigator in home visit and pharmacy settings.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117043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 Ndumele CE, et al. A Presidential Advisory from the American Heart Association on Cardiovascular-Kidney-Metabolic Health: A Scientific Statement. Circulation. 2023;148(20):1606–1635.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591056"/>
            <a:ext cx="8458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7335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 Hoffmann T, Worrall L. Designing effective written health education materials: considerations for health professionals. J Clin Nurs. 2004;13(5):587–594.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093976"/>
            <a:ext cx="8458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17627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 Al Shamsi H, et al. Implications of Language Barriers for Healthcare: A Systematic Review. Oman Med J. 2020;35(2):e122.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596896"/>
            <a:ext cx="8458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67919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 American Diabetes Association. The Diabetes Plate Method. Diabetes Food Hub. Available at: diabetesfoodhub.org.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099816"/>
            <a:ext cx="8458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18211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 Piercy KL, Troiano RP, et al. The Physical Activity Guidelines for Americans. JAMA. 2018;320(19):2020–2028.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602736"/>
            <a:ext cx="8458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68503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  Lewis C, et al. Health Literacy and Patient Outcomes: A Systematic Review. Am J Health Educ. 2021.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4105656"/>
            <a:ext cx="84582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187952"/>
            <a:ext cx="8458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  Topol EJ. High-performance medicine: the convergence of human and artificial intelligence. Nat Med. 2019;25:44–56.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82896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</a:rPr>
              <a:t>EMPOWER-CKM Navigator  |  MetroWest Medical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10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46304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Questions, Feedback &amp; Collaboration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24912" cy="8229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164592" cy="8229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Sokratis Zisis, 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PGY-3  ·  Clinical Lead / Firm Leader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572768"/>
            <a:ext cx="2724912" cy="8229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572768"/>
            <a:ext cx="164592" cy="8229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Thomas Tsai, 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8144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PGY-3, PI  ·  Development Lead &amp; IRB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572768"/>
            <a:ext cx="2724912" cy="8229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572768"/>
            <a:ext cx="164592" cy="8229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Juan Villareal del Moral, 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5936" y="19385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PGY-2  ·  Spanish Curriculum Lead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32888"/>
            <a:ext cx="2724912" cy="8229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32888"/>
            <a:ext cx="164592" cy="8229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 Ji-Yoon Lee, 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PGY-2  ·  Content &amp; Validation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82112" y="2532888"/>
            <a:ext cx="2724912" cy="8229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2532888"/>
            <a:ext cx="164592" cy="8229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8144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Lucca Gesteira, 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38144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PGY-1  ·  Portuguese Curriculum Lead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2532888"/>
            <a:ext cx="2724912" cy="822960"/>
          </a:xfrm>
          <a:prstGeom prst="rect">
            <a:avLst/>
          </a:prstGeom>
          <a:solidFill>
            <a:srgbClr val="C10E21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2532888"/>
            <a:ext cx="164592" cy="822960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606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Maysa Vilbert, 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5936" y="2898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PGY-1  ·  UX &amp; Patient Engagement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4592" y="4462272"/>
            <a:ext cx="8979408" cy="667512"/>
          </a:xfrm>
          <a:prstGeom prst="rect">
            <a:avLst/>
          </a:prstGeom>
          <a:solidFill>
            <a:srgbClr val="C10E21"/>
          </a:solidFill>
          <a:ln w="12700">
            <a:solidFill>
              <a:srgbClr val="C10E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462272"/>
            <a:ext cx="8595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Pre-Survey: </a:t>
            </a:r>
            <a:pPr algn="ctr" indent="0" marL="0">
              <a:buNone/>
            </a:pPr>
            <a:r>
              <a:rPr lang="en-US" sz="1200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forms.gle/QQWrej2tzKRepRoFA     </a:t>
            </a:r>
            <a:pPr algn="ctr" indent="0" marL="0">
              <a:buNone/>
            </a:pPr>
            <a:r>
              <a:rPr lang="en-US" sz="1200" b="1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Post-Survey: </a:t>
            </a:r>
            <a:pPr algn="ctr" indent="0" marL="0">
              <a:buNone/>
            </a:pPr>
            <a:r>
              <a:rPr lang="en-US" sz="1200" dirty="0">
                <a:solidFill>
                  <a:srgbClr val="C10E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forms.gle/2r6g14WzeTBCaPH26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EMPOWER-CKM Navigator — Grand Rounds Introduction</dc:title>
  <dc:subject>Resident Quality Improvement Project</dc:subject>
  <dc:creator>EMPOWER-CKM Resident Team</dc:creator>
  <cp:lastModifiedBy>EMPOWER-CKM Resident Team</cp:lastModifiedBy>
  <cp:revision>1</cp:revision>
  <dcterms:created xsi:type="dcterms:W3CDTF">2026-02-24T05:16:28Z</dcterms:created>
  <dcterms:modified xsi:type="dcterms:W3CDTF">2026-02-24T05:16:28Z</dcterms:modified>
</cp:coreProperties>
</file>