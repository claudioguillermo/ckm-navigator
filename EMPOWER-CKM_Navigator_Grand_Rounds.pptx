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6" d="100"/>
          <a:sy n="166" d="100"/>
        </p:scale>
        <p:origin x="27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42883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10E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0"/>
            <a:ext cx="2560320" cy="5143500"/>
          </a:xfrm>
          <a:prstGeom prst="rect">
            <a:avLst/>
          </a:prstGeom>
          <a:solidFill>
            <a:srgbClr val="990000"/>
          </a:solidFill>
          <a:ln w="12700">
            <a:solidFill>
              <a:srgbClr val="990000"/>
            </a:solidFill>
            <a:prstDash val="solid"/>
          </a:ln>
        </p:spPr>
        <p:txBody>
          <a:bodyPr/>
          <a:lstStyle/>
          <a:p>
            <a:endParaRPr lang="en-US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8046720" y="0"/>
            <a:ext cx="1097280" cy="5143500"/>
          </a:xfrm>
          <a:prstGeom prst="rect">
            <a:avLst/>
          </a:prstGeom>
          <a:solidFill>
            <a:srgbClr val="C10E21">
              <a:alpha val="60000"/>
            </a:srgbClr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913936"/>
            <a:ext cx="5303520" cy="640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457200"/>
            <a:ext cx="1509913" cy="292608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pPr algn="ctr"/>
            <a:endParaRPr lang="en-US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457200"/>
            <a:ext cx="150991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dirty="0">
                <a:solidFill>
                  <a:srgbClr val="C10E2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QUALITY IMPROVEMENT</a:t>
            </a:r>
            <a:endParaRPr lang="en-US" sz="8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5943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EMPOWER-CKM</a:t>
            </a:r>
            <a:endParaRPr lang="en-US" sz="46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1664208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dirty="0">
                <a:solidFill>
                  <a:srgbClr val="FFFFFF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Navigator</a:t>
            </a:r>
            <a:endParaRPr lang="en-US" sz="46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2304288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9D9D9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Resident-Designed Digital Health Platform for CKM Patient Education</a:t>
            </a:r>
            <a:endParaRPr lang="en-US" sz="14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297180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9D9D9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Sokratis Zisis, MD  ·  Thomas Tsai, MD  ·  Juan Villareal del Moral, MD</a:t>
            </a:r>
            <a:endParaRPr lang="en-US" sz="11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D9D9D9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Kate Ji-Yoon Lee, MD  ·  Lucca Gesteira, MD  ·  Maysa Vilbert, MD</a:t>
            </a:r>
            <a:endParaRPr lang="en-US" sz="11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Internal Medicine Residency Program  |  MetroWest Medical Center</a:t>
            </a:r>
            <a:endParaRPr lang="en-US" sz="11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57200" y="4023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March 2026</a:t>
            </a:r>
          </a:p>
        </p:txBody>
      </p:sp>
      <p:sp>
        <p:nvSpPr>
          <p:cNvPr id="17" name="Text 15"/>
          <p:cNvSpPr/>
          <p:nvPr/>
        </p:nvSpPr>
        <p:spPr>
          <a:xfrm>
            <a:off x="457200" y="4873752"/>
            <a:ext cx="53035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bg1">
                    <a:lumMod val="95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IRB Protocol #: Pending  |  Version Date: February 10,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201168" y="0"/>
            <a:ext cx="8942832" cy="960120"/>
          </a:xfrm>
          <a:prstGeom prst="rect">
            <a:avLst/>
          </a:prstGeom>
          <a:solidFill>
            <a:srgbClr val="990000"/>
          </a:solidFill>
          <a:ln w="12700">
            <a:solidFill>
              <a:srgbClr val="990000"/>
            </a:solidFill>
            <a:prstDash val="solid"/>
          </a:ln>
        </p:spPr>
        <p:txBody>
          <a:bodyPr/>
          <a:lstStyle/>
          <a:p>
            <a:endParaRPr lang="en-US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38912" y="731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Disclosures &amp; Roadmap</a:t>
            </a:r>
            <a:endParaRPr lang="en-US" sz="26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347472" y="1142999"/>
            <a:ext cx="3657600" cy="365952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47472" y="1143000"/>
            <a:ext cx="3657600" cy="347472"/>
          </a:xfrm>
          <a:prstGeom prst="rect">
            <a:avLst/>
          </a:prstGeom>
          <a:solidFill>
            <a:srgbClr val="990000"/>
          </a:solidFill>
          <a:ln w="12700">
            <a:solidFill>
              <a:srgbClr val="990000"/>
            </a:solidFill>
            <a:prstDash val="solid"/>
          </a:ln>
        </p:spPr>
        <p:txBody>
          <a:bodyPr/>
          <a:lstStyle/>
          <a:p>
            <a:endParaRPr lang="en-US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347472" y="114300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DISCLOSURES</a:t>
            </a:r>
            <a:endParaRPr lang="en-US" sz="11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502920" y="1581912"/>
            <a:ext cx="33375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31F2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No financial conflicts of interest to disclose.</a:t>
            </a:r>
            <a:endParaRPr lang="en-US" sz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31F2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endParaRPr lang="en-US" sz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31F2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This project was funded using no external grants.</a:t>
            </a:r>
            <a:endParaRPr lang="en-US" sz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31F2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endParaRPr lang="en-US" sz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31F2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CKM Navigator application was built entirely by the resident team using AI-assisted coding tools at no cost to the institution.</a:t>
            </a:r>
            <a:endParaRPr lang="en-US" sz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31F2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endParaRPr lang="en-US" sz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indent="0">
              <a:buNone/>
            </a:pPr>
            <a:r>
              <a:rPr lang="en-US" sz="1200" i="1" dirty="0">
                <a:solidFill>
                  <a:srgbClr val="636466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IRB review is currently pending. This is a Quality Improvement (QI) project.</a:t>
            </a:r>
            <a:endParaRPr lang="en-US" sz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224528" y="1143000"/>
            <a:ext cx="4572000" cy="3659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224528" y="1143000"/>
            <a:ext cx="4572000" cy="347472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224528" y="11430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TODAY'S AGENDA</a:t>
            </a:r>
            <a:endParaRPr lang="en-US" sz="11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407408" y="1636776"/>
            <a:ext cx="274320" cy="274320"/>
          </a:xfrm>
          <a:prstGeom prst="ellipse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407408" y="16367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1</a:t>
            </a:r>
            <a:endParaRPr lang="en-US" sz="9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754880" y="160020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31F2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Clinical Problem — CKM Syndrome</a:t>
            </a:r>
            <a:endParaRPr lang="en-US" sz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407408" y="2011680"/>
            <a:ext cx="274320" cy="274320"/>
          </a:xfrm>
          <a:prstGeom prst="ellipse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407408" y="2011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</a:t>
            </a:r>
            <a:endParaRPr lang="en-US" sz="9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754880" y="197510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31F2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Local Gap — What We Lost</a:t>
            </a:r>
            <a:endParaRPr lang="en-US" sz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407408" y="2386584"/>
            <a:ext cx="274320" cy="274320"/>
          </a:xfrm>
          <a:prstGeom prst="ellipse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407408" y="2386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3</a:t>
            </a:r>
            <a:endParaRPr lang="en-US" sz="9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754880" y="235000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31F2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Solution — CKM Navigator App</a:t>
            </a:r>
            <a:endParaRPr lang="en-US" sz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407408" y="2761488"/>
            <a:ext cx="274320" cy="274320"/>
          </a:xfrm>
          <a:prstGeom prst="ellipse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407408" y="2761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4</a:t>
            </a:r>
            <a:endParaRPr lang="en-US" sz="9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4754880" y="272491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31F2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App Walkthrough &amp; Key Features</a:t>
            </a:r>
            <a:endParaRPr lang="en-US" sz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407408" y="3136392"/>
            <a:ext cx="274320" cy="274320"/>
          </a:xfrm>
          <a:prstGeom prst="ellipse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407408" y="31363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5</a:t>
            </a:r>
            <a:endParaRPr lang="en-US" sz="9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4754880" y="309981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31F2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AI Health Assistant (RAG)</a:t>
            </a:r>
            <a:endParaRPr lang="en-US" sz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4407408" y="3511296"/>
            <a:ext cx="274320" cy="274320"/>
          </a:xfrm>
          <a:prstGeom prst="ellipse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4407408" y="35112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6</a:t>
            </a:r>
            <a:endParaRPr lang="en-US" sz="9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4754880" y="347472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31F2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How We Built It — "Clinician-Coder"</a:t>
            </a:r>
            <a:endParaRPr lang="en-US" sz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407408" y="3886200"/>
            <a:ext cx="274320" cy="274320"/>
          </a:xfrm>
          <a:prstGeom prst="ellipse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4407408" y="3886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7</a:t>
            </a:r>
            <a:endParaRPr lang="en-US" sz="9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754880" y="384962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31F2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IRB Study Design &amp; Your Role</a:t>
            </a:r>
            <a:endParaRPr lang="en-US" sz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4407408" y="4261104"/>
            <a:ext cx="274320" cy="274320"/>
          </a:xfrm>
          <a:prstGeom prst="ellipse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4407408" y="42611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8</a:t>
            </a:r>
            <a:endParaRPr lang="en-US" sz="9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4754880" y="42245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31F2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Next Steps &amp; Call to Action</a:t>
            </a:r>
            <a:endParaRPr lang="en-US" sz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0" y="4882896"/>
            <a:ext cx="9006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EMPOWER-CKM Navigator  |  MetroWest Medical Center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201168" y="0"/>
            <a:ext cx="8942832" cy="960120"/>
          </a:xfrm>
          <a:prstGeom prst="rect">
            <a:avLst/>
          </a:prstGeom>
          <a:solidFill>
            <a:srgbClr val="990000"/>
          </a:solidFill>
          <a:ln w="12700">
            <a:solidFill>
              <a:srgbClr val="990000"/>
            </a:solidFill>
            <a:prstDash val="solid"/>
          </a:ln>
        </p:spPr>
        <p:txBody>
          <a:bodyPr/>
          <a:lstStyle/>
          <a:p>
            <a:endParaRPr lang="en-US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38912" y="731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Clinical Problem</a:t>
            </a:r>
            <a:endParaRPr lang="en-US" sz="26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38912" y="576072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Cardio-Kidney-Metabolic (CKM) Syndrome — A Systems-Level Epidemic</a:t>
            </a:r>
            <a:endParaRPr lang="en-US" sz="13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73014" y="1572768"/>
            <a:ext cx="1921008" cy="1920240"/>
          </a:xfrm>
          <a:prstGeom prst="ellipse">
            <a:avLst/>
          </a:prstGeom>
          <a:solidFill>
            <a:srgbClr val="C10E21">
              <a:alpha val="45000"/>
            </a:srgbClr>
          </a:solidFill>
          <a:ln w="254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587444" y="1824228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10E2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❤️</a:t>
            </a:r>
            <a:endParaRPr lang="en-US" sz="13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indent="0" algn="ctr">
              <a:buNone/>
            </a:pPr>
            <a:r>
              <a:rPr lang="en-US" sz="1300" b="1" dirty="0">
                <a:solidFill>
                  <a:srgbClr val="C10E2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Cardiovascular</a:t>
            </a:r>
            <a:endParaRPr lang="en-US" sz="13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indent="0" algn="ctr">
              <a:buNone/>
            </a:pPr>
            <a:r>
              <a:rPr lang="en-US" sz="1300" b="1" dirty="0">
                <a:solidFill>
                  <a:srgbClr val="C10E2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Disease</a:t>
            </a:r>
            <a:endParaRPr lang="en-US" sz="13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3082604" y="1572768"/>
            <a:ext cx="1921008" cy="1920240"/>
          </a:xfrm>
          <a:prstGeom prst="ellipse">
            <a:avLst/>
          </a:prstGeom>
          <a:solidFill>
            <a:srgbClr val="990000">
              <a:alpha val="45000"/>
            </a:srgbClr>
          </a:solidFill>
          <a:ln w="25400">
            <a:solidFill>
              <a:srgbClr val="990000"/>
            </a:solidFill>
            <a:prstDash val="solid"/>
          </a:ln>
        </p:spPr>
        <p:txBody>
          <a:bodyPr/>
          <a:lstStyle/>
          <a:p>
            <a:endParaRPr lang="en-US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2939373" y="1730963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10E2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⚡</a:t>
            </a:r>
            <a:endParaRPr lang="en-US" sz="13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indent="0" algn="ctr">
              <a:buNone/>
            </a:pPr>
            <a:r>
              <a:rPr lang="en-US" sz="1300" b="1" dirty="0">
                <a:solidFill>
                  <a:srgbClr val="C10E2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Metabolic</a:t>
            </a:r>
            <a:endParaRPr lang="en-US" sz="13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indent="0" algn="ctr">
              <a:buNone/>
            </a:pPr>
            <a:r>
              <a:rPr lang="en-US" sz="1300" b="1" dirty="0">
                <a:solidFill>
                  <a:srgbClr val="C10E2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Dysfunction</a:t>
            </a:r>
            <a:endParaRPr lang="en-US" sz="13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2079914" y="2624789"/>
            <a:ext cx="1921008" cy="1920240"/>
          </a:xfrm>
          <a:prstGeom prst="ellipse">
            <a:avLst/>
          </a:prstGeom>
          <a:solidFill>
            <a:srgbClr val="636466">
              <a:alpha val="45000"/>
            </a:srgbClr>
          </a:solidFill>
          <a:ln w="25400">
            <a:solidFill>
              <a:srgbClr val="636466"/>
            </a:solidFill>
            <a:prstDash val="solid"/>
          </a:ln>
        </p:spPr>
        <p:txBody>
          <a:bodyPr/>
          <a:lstStyle/>
          <a:p>
            <a:endParaRPr lang="en-US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897418" y="2853389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10E2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🫘</a:t>
            </a:r>
            <a:endParaRPr lang="en-US" sz="13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indent="0" algn="ctr">
              <a:buNone/>
            </a:pPr>
            <a:r>
              <a:rPr lang="en-US" sz="1300" b="1" dirty="0">
                <a:solidFill>
                  <a:srgbClr val="C10E2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Chronic Kidney</a:t>
            </a:r>
            <a:endParaRPr lang="en-US" sz="13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indent="0" algn="ctr">
              <a:buNone/>
            </a:pPr>
            <a:r>
              <a:rPr lang="en-US" sz="1300" b="1" dirty="0">
                <a:solidFill>
                  <a:srgbClr val="C10E2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Disease</a:t>
            </a:r>
            <a:endParaRPr lang="en-US" sz="13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2397303" y="2305594"/>
            <a:ext cx="1143000" cy="822960"/>
          </a:xfrm>
          <a:prstGeom prst="ellipse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2388696" y="2291293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CKM</a:t>
            </a:r>
            <a:endParaRPr lang="en-US" sz="14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806440" y="1078992"/>
            <a:ext cx="3017520" cy="36393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989320" y="11887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9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AHA 2023 Presidential</a:t>
            </a:r>
            <a:r>
              <a:rPr lang="en-US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en-US" sz="1200" b="1" dirty="0">
                <a:solidFill>
                  <a:srgbClr val="99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Advisory</a:t>
            </a:r>
            <a:endParaRPr lang="en-US" sz="12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961888" y="1801368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217920" y="171907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CKM is a unified disease spectrum — NOT isolated comorbidities</a:t>
            </a:r>
            <a:endParaRPr lang="en-US" sz="11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961888" y="2304288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217920" y="222199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Adiposity, hypertension, and dysglycemia drive all 3 organ systems simultaneously</a:t>
            </a:r>
            <a:endParaRPr lang="en-US" sz="11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961888" y="2807208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217920" y="272491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Early-stage CKM (Stage 1-2) is reversible — the optimal intervention window</a:t>
            </a:r>
            <a:endParaRPr lang="en-US" sz="11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5961888" y="3310128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217920" y="322783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Effective CKM counseling requires integrated, patient-centered literacy tools</a:t>
            </a:r>
            <a:endParaRPr lang="en-US" sz="11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961888" y="3721608"/>
            <a:ext cx="164592" cy="164592"/>
          </a:xfrm>
          <a:prstGeom prst="ellipse">
            <a:avLst/>
          </a:prstGeom>
          <a:solidFill>
            <a:srgbClr val="8C8C8C"/>
          </a:solidFill>
          <a:ln w="12700">
            <a:solidFill>
              <a:srgbClr val="8C8C8C"/>
            </a:solidFill>
            <a:prstDash val="solid"/>
          </a:ln>
        </p:spPr>
        <p:txBody>
          <a:bodyPr/>
          <a:lstStyle/>
          <a:p>
            <a:endParaRPr lang="en-US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217920" y="373075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8C8C8C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Ndumele CE, et al. Circulation. 2023;148:1606-1635</a:t>
            </a:r>
            <a:endParaRPr lang="en-US" sz="9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0" y="4882896"/>
            <a:ext cx="9006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8C8C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EMPOWER-CKM Navigator  |  MetroWest Medical Center  |  2026</a:t>
            </a:r>
            <a:endParaRPr lang="en-US" sz="9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201168" y="0"/>
            <a:ext cx="8942832" cy="960120"/>
          </a:xfrm>
          <a:prstGeom prst="rect">
            <a:avLst/>
          </a:prstGeom>
          <a:solidFill>
            <a:srgbClr val="990000"/>
          </a:solidFill>
          <a:ln w="12700">
            <a:solidFill>
              <a:srgbClr val="99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38912" y="731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Local Problem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38912" y="576072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MetroWest Continuity Clinic — A Perfect Storm of Unmet Need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47472" y="1115568"/>
            <a:ext cx="420624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47472" y="1115568"/>
            <a:ext cx="164592" cy="160020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76072" y="12801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👩‍⚕️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243584" y="125272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Lost Diabetes Educator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43584" y="1636776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Role eliminated post-COVID-19. Residents now counsel without specialist support.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36592" y="1115568"/>
            <a:ext cx="420624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736592" y="1115568"/>
            <a:ext cx="164592" cy="160020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965192" y="12801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⏱️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632704" y="125272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Time-Constrained Residents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632704" y="1636776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Brief clinic encounters cannot accommodate complex CKM nutritional counseling.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47472" y="2852928"/>
            <a:ext cx="420624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47472" y="2852928"/>
            <a:ext cx="164592" cy="160020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76072" y="30175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🌎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1243584" y="299008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Language Barriers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43584" y="3374136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Substantial Portuguese (Brazilian) and Spanish-speaking immigrant population — English-only materials fall short.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36592" y="2852928"/>
            <a:ext cx="420624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736592" y="2852928"/>
            <a:ext cx="164592" cy="1600200"/>
          </a:xfrm>
          <a:prstGeom prst="rect">
            <a:avLst/>
          </a:prstGeom>
          <a:solidFill>
            <a:srgbClr val="990000"/>
          </a:solidFill>
          <a:ln w="12700">
            <a:solidFill>
              <a:srgbClr val="99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965192" y="30175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📄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632704" y="299008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Static Educational Materials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632704" y="3374136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Existing handouts are text-heavy, culturally generic, and non-interactive — low efficacy for health literacy.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47472" y="4572000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💡  &gt;60% of the clinic panel meets criteria for CKM Stage 1 or 2 — yet receives no structured digital education.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0" y="4882896"/>
            <a:ext cx="9006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8C8C"/>
                </a:solidFill>
              </a:rPr>
              <a:t>EMPOWER-CKM Navigator  |  MetroWest Medical Center  |  2026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10E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990000"/>
          </a:solidFill>
          <a:ln w="12700">
            <a:solidFill>
              <a:srgbClr val="99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914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Solution: CKM Navigator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11480" y="68580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 interactive, multilingual, AI-powered patient education platform — designed by residents, for patients.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536192"/>
            <a:ext cx="2834640" cy="1508760"/>
          </a:xfrm>
          <a:prstGeom prst="rect">
            <a:avLst/>
          </a:prstGeom>
          <a:solidFill>
            <a:srgbClr val="C10E21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38912" y="17007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📚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05840" y="170078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6-Module Curriculum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38912" y="213055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Evidence-based CKM content at pre-high school reading level. Covers nutrition, movement, labs, medications, and risk staging.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46120" y="1536192"/>
            <a:ext cx="2834640" cy="1508760"/>
          </a:xfrm>
          <a:prstGeom prst="rect">
            <a:avLst/>
          </a:prstGeom>
          <a:solidFill>
            <a:srgbClr val="C10E21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10712" y="17007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🌐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977640" y="170078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Multilingual by Design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10712" y="213055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Full localization in English, Spanish (Castilian), and Portuguese (Brazilian) — validated by native-speaking residents.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17920" y="1536192"/>
            <a:ext cx="2834640" cy="1508760"/>
          </a:xfrm>
          <a:prstGeom prst="rect">
            <a:avLst/>
          </a:prstGeom>
          <a:solidFill>
            <a:srgbClr val="C10E21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82512" y="17007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🤖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949440" y="170078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Health Assistant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82512" y="213055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RAG-powered chatbot strictly grounded in the app's own curriculum — no hallucinations, no open-internet access.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3227832"/>
            <a:ext cx="2834640" cy="1508760"/>
          </a:xfrm>
          <a:prstGeom prst="rect">
            <a:avLst/>
          </a:prstGeom>
          <a:solidFill>
            <a:srgbClr val="C10E21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38912" y="33924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005840" y="339242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Progress Dashboard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38912" y="382219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Visual learning tracker shows completed modules and encourages continued engagement.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46120" y="3227832"/>
            <a:ext cx="2834640" cy="1508760"/>
          </a:xfrm>
          <a:prstGeom prst="rect">
            <a:avLst/>
          </a:prstGeom>
          <a:solidFill>
            <a:srgbClr val="C10E21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410712" y="33924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🧪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3977640" y="339242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Doctor Passport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10712" y="382219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Personalized CKM staging output that patients can reference in shared decision-making with their physician.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217920" y="3227832"/>
            <a:ext cx="2834640" cy="1508760"/>
          </a:xfrm>
          <a:prstGeom prst="rect">
            <a:avLst/>
          </a:prstGeom>
          <a:solidFill>
            <a:srgbClr val="C10E21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382512" y="33924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🔒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6949440" y="339242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Enterprise Security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82512" y="382219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CSP headers, XSS prevention (DOMPurify), rate-limited API proxy, and ephemeral session data — zero PHI stored.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0" y="4882896"/>
            <a:ext cx="9006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8C8C"/>
                </a:solidFill>
              </a:rPr>
              <a:t>EMPOWER-CKM Navigator  |  MetroWest Medical Center  |  2026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201168" y="0"/>
            <a:ext cx="8942832" cy="960120"/>
          </a:xfrm>
          <a:prstGeom prst="rect">
            <a:avLst/>
          </a:prstGeom>
          <a:solidFill>
            <a:srgbClr val="990000"/>
          </a:solidFill>
          <a:ln w="12700">
            <a:solidFill>
              <a:srgbClr val="99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38912" y="731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Educational Curriculum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38912" y="576072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 Interactive Modules — Evidence-Based, Patient-Centered, Linguistically Accessible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078992"/>
            <a:ext cx="2724912" cy="16184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216152"/>
            <a:ext cx="411480" cy="411480"/>
          </a:xfrm>
          <a:prstGeom prst="ellipse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12161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11704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🏠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11480" y="165506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is CKM Health?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2020824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House analogy: Foundation (metabolism) · Plumbing (kidneys) · Wiring (heart). Interactive anatomy explorer.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72968" y="1078992"/>
            <a:ext cx="2724912" cy="16184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310128" y="1216152"/>
            <a:ext cx="411480" cy="411480"/>
          </a:xfrm>
          <a:prstGeom prst="ellipse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310128" y="12161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767328" y="11704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🥗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310128" y="165506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Your Plate &amp; Your Health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10128" y="2020824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ADA Diabetes Plate Method. Interactive food label trainer: serving sizes, sodium, added sugars.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071616" y="1078992"/>
            <a:ext cx="2724912" cy="16184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208776" y="1216152"/>
            <a:ext cx="411480" cy="411480"/>
          </a:xfrm>
          <a:prstGeom prst="ellipse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208776" y="12161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665976" y="11704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🏃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208776" y="165506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Move More, Live Better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08776" y="2020824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150-min/week guideline. Zone 2 cardio vs. resistance training. MA winter-specific indoor options.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74320" y="2834640"/>
            <a:ext cx="2724912" cy="16184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11480" y="2971800"/>
            <a:ext cx="411480" cy="411480"/>
          </a:xfrm>
          <a:prstGeom prst="ellipse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11480" y="2971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6868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📉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411480" y="341071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Understanding Your Numbers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11480" y="3776472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HbA1c, blood pressure, lipid panel interpretation. Introduces eGFR and UACR for early CKD detection.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172968" y="2834640"/>
            <a:ext cx="2724912" cy="16184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310128" y="2971800"/>
            <a:ext cx="411480" cy="411480"/>
          </a:xfrm>
          <a:prstGeom prst="ellipse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310128" y="2971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767328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💊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3310128" y="341071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Your Treatment Options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310128" y="3776472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Medication education by mechanism class. Cardio-protective "double duty" agents (SGLT2i, GLP-1, ACEi/ARB).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071616" y="2834640"/>
            <a:ext cx="2724912" cy="16184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208776" y="2971800"/>
            <a:ext cx="411480" cy="411480"/>
          </a:xfrm>
          <a:prstGeom prst="ellipse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208776" y="2971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665976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🧬</a:t>
            </a:r>
            <a:endParaRPr lang="en-US" sz="2400" dirty="0"/>
          </a:p>
        </p:txBody>
      </p:sp>
      <p:sp>
        <p:nvSpPr>
          <p:cNvPr id="40" name="Text 38"/>
          <p:cNvSpPr/>
          <p:nvPr/>
        </p:nvSpPr>
        <p:spPr>
          <a:xfrm>
            <a:off x="6208776" y="341071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Personalized Assessment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208776" y="3776472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CKM staging quiz → "Doctor Passport" — an educational CKM stage estimate to prompt provider discussion.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0" y="4882896"/>
            <a:ext cx="9006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8C8C"/>
                </a:solidFill>
              </a:rPr>
              <a:t>EMPOWER-CKM Navigator  |  MetroWest Medical Center  |  2026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10E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201168" y="0"/>
            <a:ext cx="8942832" cy="960120"/>
          </a:xfrm>
          <a:prstGeom prst="rect">
            <a:avLst/>
          </a:prstGeom>
          <a:solidFill>
            <a:srgbClr val="990000"/>
          </a:solidFill>
          <a:ln w="12700">
            <a:solidFill>
              <a:srgbClr val="99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38912" y="731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AI Health Assistant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38912" y="576072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End-to-End Retrieval-Augmented Generation (RAG) — Closed-Domain, Hallucination-Controlled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28600" y="1188720"/>
            <a:ext cx="1554480" cy="2377440"/>
          </a:xfrm>
          <a:prstGeom prst="rect">
            <a:avLst/>
          </a:prstGeom>
          <a:solidFill>
            <a:srgbClr val="C10E21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49808" y="1316736"/>
            <a:ext cx="512064" cy="512064"/>
          </a:xfrm>
          <a:prstGeom prst="ellipse">
            <a:avLst/>
          </a:prstGeom>
          <a:solidFill>
            <a:srgbClr val="C10E2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49808" y="13167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28600" y="19202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Patient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Input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20040" y="2395728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User asks a health question in English, Spanish, or Portuguese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783080" y="2395728"/>
            <a:ext cx="246888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920240" y="2286000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▶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938528" y="1188720"/>
            <a:ext cx="1554480" cy="2377440"/>
          </a:xfrm>
          <a:prstGeom prst="rect">
            <a:avLst/>
          </a:prstGeom>
          <a:solidFill>
            <a:srgbClr val="C10E21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459736" y="1316736"/>
            <a:ext cx="512064" cy="512064"/>
          </a:xfrm>
          <a:prstGeom prst="ellipse">
            <a:avLst/>
          </a:prstGeom>
          <a:solidFill>
            <a:srgbClr val="C10E2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459736" y="13167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938528" y="19202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Hybrid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Search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029968" y="2395728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BM25 keyword + semantic vector clustering across full curriculum dataset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493008" y="2395728"/>
            <a:ext cx="246888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630168" y="2286000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▶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648456" y="1188720"/>
            <a:ext cx="1554480" cy="2377440"/>
          </a:xfrm>
          <a:prstGeom prst="rect">
            <a:avLst/>
          </a:prstGeom>
          <a:solidFill>
            <a:srgbClr val="C10E21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169664" y="1316736"/>
            <a:ext cx="512064" cy="512064"/>
          </a:xfrm>
          <a:prstGeom prst="ellipse">
            <a:avLst/>
          </a:prstGeom>
          <a:solidFill>
            <a:srgbClr val="C10E2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169664" y="13167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648456" y="19202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Context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Extraction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739896" y="2395728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Top 3 most relevant educational chunks extracted and formatted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202936" y="2395728"/>
            <a:ext cx="246888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340096" y="2286000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▶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358384" y="1188720"/>
            <a:ext cx="1554480" cy="2377440"/>
          </a:xfrm>
          <a:prstGeom prst="rect">
            <a:avLst/>
          </a:prstGeom>
          <a:solidFill>
            <a:srgbClr val="C10E21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879592" y="1316736"/>
            <a:ext cx="512064" cy="512064"/>
          </a:xfrm>
          <a:prstGeom prst="ellipse">
            <a:avLst/>
          </a:prstGeom>
          <a:solidFill>
            <a:srgbClr val="C10E2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879592" y="13167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358384" y="19202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LLM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Generation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449824" y="2395728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Qwen-Flash model receives curriculum context + user prompt via secure proxy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912864" y="2395728"/>
            <a:ext cx="246888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050024" y="2286000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▶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068312" y="1188720"/>
            <a:ext cx="1554480" cy="2377440"/>
          </a:xfrm>
          <a:prstGeom prst="rect">
            <a:avLst/>
          </a:prstGeom>
          <a:solidFill>
            <a:srgbClr val="C10E21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7589520" y="1316736"/>
            <a:ext cx="512064" cy="512064"/>
          </a:xfrm>
          <a:prstGeom prst="ellipse">
            <a:avLst/>
          </a:prstGeom>
          <a:solidFill>
            <a:srgbClr val="C10E2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7589520" y="13167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7068312" y="19202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Cited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Response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159752" y="2395728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Answer returned with [Source X] citations and medical disclaimers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28600" y="3730752"/>
            <a:ext cx="8686800" cy="868680"/>
          </a:xfrm>
          <a:prstGeom prst="rect">
            <a:avLst/>
          </a:prstGeom>
          <a:solidFill>
            <a:srgbClr val="C10E21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228600" y="3730752"/>
            <a:ext cx="164592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502920" y="37673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SAFETY DESIGN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02920" y="4114800"/>
            <a:ext cx="8183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system prompt mathematically constrains the LLM to answer ONLY from supplied curriculum context · Refuses diagnostic / emergency prompts · Mandates medical disclaimers · No open-internet access · Rate-limited (10 req/min/IP) via Node.js/Express proxy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0" y="4882896"/>
            <a:ext cx="9006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8C8C"/>
                </a:solidFill>
              </a:rPr>
              <a:t>EMPOWER-CKM Navigator  |  MetroWest Medical Center  |  2026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201168" y="0"/>
            <a:ext cx="8942832" cy="960120"/>
          </a:xfrm>
          <a:prstGeom prst="rect">
            <a:avLst/>
          </a:prstGeom>
          <a:solidFill>
            <a:srgbClr val="990000"/>
          </a:solidFill>
          <a:ln w="12700">
            <a:solidFill>
              <a:srgbClr val="99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38912" y="731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Technical Architecture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38912" y="576072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Built Without a Vendor — Vanilla Web Stack + Secure Backend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078992"/>
            <a:ext cx="411480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17043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 Stack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38912" y="16002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10E2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Frontend: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572768" y="15727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Vanilla HTML5 · CSS3 · Modern JS (ES2022)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Custom Elements · CSS Micro-Animations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38912" y="21305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10E2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Architecture: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572768" y="21031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Single-Page App (SPA) · Progressive Web App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Service Worker cache for offline resilience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8912" y="266090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10E2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Backend: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572768" y="263347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Node.js / Express.js proxy server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Session management · Rate limiting · CORS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38912" y="319125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10E2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 Layer: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572768" y="316382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Alibaba Qwen-Flash LLM (qwen-flash-2025-07-28)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Custom HybridSearchEngine (BM25 + vector)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8912" y="372160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10E2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Security: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72768" y="369417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DOMPurify XSS protection · CSP headers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Zero PHI storage · Ephemeral session state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38912" y="42519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10E2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i18n: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572768" y="422452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Full JSON locale files — EN / ES (MX) / PT (BR)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Native-speaker validated translations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17720" y="1078992"/>
            <a:ext cx="420624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617720" y="1078992"/>
            <a:ext cx="4206240" cy="384048"/>
          </a:xfrm>
          <a:prstGeom prst="rect">
            <a:avLst/>
          </a:prstGeom>
          <a:solidFill>
            <a:srgbClr val="990000"/>
          </a:solidFill>
          <a:ln w="12700">
            <a:solidFill>
              <a:srgbClr val="99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709160" y="107899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"Clinician-Coder-Builder" Paradigm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754880" y="1554480"/>
            <a:ext cx="393192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Built entirely using AI-agent CLIs: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Claude Code · Google Gemini · OpenAI Codex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Methodology: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Iterative conversational prompting directed AI agents to scaffold features, debug syntax, inject GPU-accelerated CSS, and structure data flows — without a single external vendor.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Significance: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Validates a zero-cost, scalable "Clinician-Coded" pathway for frontline physicians to bridge implementation gaps — from guideline to bedside tool — autonomously.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C10E2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"If we can do this from a continuity clinic in Framingham, so can every residency program in the country."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0" y="4882896"/>
            <a:ext cx="9006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8C8C"/>
                </a:solidFill>
              </a:rPr>
              <a:t>EMPOWER-CKM Navigator  |  MetroWest Medical Center  |  2026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201168" y="0"/>
            <a:ext cx="8942832" cy="960120"/>
          </a:xfrm>
          <a:prstGeom prst="rect">
            <a:avLst/>
          </a:prstGeom>
          <a:solidFill>
            <a:srgbClr val="990000"/>
          </a:solidFill>
          <a:ln w="12700">
            <a:solidFill>
              <a:srgbClr val="99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38912" y="731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Patient-Facing Features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38912" y="576072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Personalization, Progress, and Clinical Utility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078992"/>
            <a:ext cx="2816352" cy="36301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2618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📊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11480" y="1947672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Learning Dashboard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2404872"/>
            <a:ext cx="25146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personalized home screen tracking each user's progress across all 6 modules. Visual progress rings and completion badges encourage self-directed learning. Bilingual welcome messages maintain cultural connection.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11480" y="3986784"/>
            <a:ext cx="2514600" cy="201168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398678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● Progress tracking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11480" y="3986784"/>
            <a:ext cx="2514600" cy="201168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398678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● Visual feedback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11480" y="3986784"/>
            <a:ext cx="2514600" cy="201168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57200" y="398678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● Motivational design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18688" y="1078992"/>
            <a:ext cx="2816352" cy="36301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401568" y="12618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🧬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3355848" y="1947672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Doctor Passport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355848" y="2404872"/>
            <a:ext cx="25146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After completing the staging quiz, patients receive a portable educational summary of their estimated CKM stage. Designed as a conversation starter — NOT a diagnostic — that residents can reference directly in the exam room.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355848" y="3986784"/>
            <a:ext cx="2514600" cy="201168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401568" y="398678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● Shared decision-making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355848" y="3986784"/>
            <a:ext cx="2514600" cy="201168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401568" y="398678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● Educational staging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355848" y="3986784"/>
            <a:ext cx="2514600" cy="201168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401568" y="398678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● Non-diagnostic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163056" y="1078992"/>
            <a:ext cx="2816352" cy="36301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345936" y="12618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🔁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6300216" y="1947672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Adaptive Curriculum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300216" y="2404872"/>
            <a:ext cx="25146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Residents can navigate directly to the most relevant modules (e.g., jump to medications for a complex Type 2 DM patient). Modular design means 5-minute focused sessions or a full 30-minute deep dive.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300216" y="3986784"/>
            <a:ext cx="2514600" cy="201168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345936" y="398678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● Time-flexible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300216" y="3986784"/>
            <a:ext cx="2514600" cy="201168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345936" y="398678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● Clinician-directed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300216" y="3986784"/>
            <a:ext cx="2514600" cy="201168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345936" y="398678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● Modular navigation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0" y="4882896"/>
            <a:ext cx="9006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8C8C"/>
                </a:solidFill>
              </a:rPr>
              <a:t>EMPOWER-CKM Navigator  |  MetroWest Medical Center  |  2026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201168" y="0"/>
            <a:ext cx="8942832" cy="960120"/>
          </a:xfrm>
          <a:prstGeom prst="rect">
            <a:avLst/>
          </a:prstGeom>
          <a:solidFill>
            <a:srgbClr val="990000"/>
          </a:solidFill>
          <a:ln w="12700">
            <a:solidFill>
              <a:srgbClr val="99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38912" y="731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Security &amp; Privacy Architecture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38912" y="576072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Zero PHI · Hardened Frontend · Secure AI Proxy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078992"/>
            <a:ext cx="1920240" cy="1170432"/>
          </a:xfrm>
          <a:prstGeom prst="rect">
            <a:avLst/>
          </a:prstGeom>
          <a:solidFill>
            <a:srgbClr val="2E7D52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74320" y="1152144"/>
            <a:ext cx="1920240" cy="632033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23/23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274320" y="1757843"/>
            <a:ext cx="1920240" cy="444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Security Checks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Passing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50592" y="1078992"/>
            <a:ext cx="1920240" cy="1170432"/>
          </a:xfrm>
          <a:prstGeom prst="rect">
            <a:avLst/>
          </a:prstGeom>
          <a:solidFill>
            <a:srgbClr val="C10E21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450592" y="1152144"/>
            <a:ext cx="1920240" cy="632033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2450592" y="1757843"/>
            <a:ext cx="1920240" cy="444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XSS Attack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Vectors Remaining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26864" y="1078992"/>
            <a:ext cx="1920240" cy="1170432"/>
          </a:xfrm>
          <a:prstGeom prst="rect">
            <a:avLst/>
          </a:prstGeom>
          <a:solidFill>
            <a:srgbClr val="990000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626864" y="1152144"/>
            <a:ext cx="1920240" cy="632033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4626864" y="1757843"/>
            <a:ext cx="1920240" cy="444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PHI Records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Stored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03136" y="1078992"/>
            <a:ext cx="1920240" cy="1170432"/>
          </a:xfrm>
          <a:prstGeom prst="rect">
            <a:avLst/>
          </a:prstGeom>
          <a:solidFill>
            <a:srgbClr val="5C6BC0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803136" y="1152144"/>
            <a:ext cx="1920240" cy="632033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6803136" y="1757843"/>
            <a:ext cx="1920240" cy="444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Requests/Min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Rate Limit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2395728"/>
            <a:ext cx="2816352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65760" y="2505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🔐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68680" y="248716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API Key Security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68680" y="28346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client-side API keys. All LLM calls route through a Node.js/Express backend proxy. Keys live in environment variables only.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218688" y="2395728"/>
            <a:ext cx="2816352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310128" y="2505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🛡️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813048" y="248716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XSS Prevention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813048" y="28346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DOMPurify integrated for all innerHTML operations. 44 inline event handlers removed and replaced with event delegation.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163056" y="2395728"/>
            <a:ext cx="2816352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254496" y="2505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757416" y="248716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Content Security Policy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757416" y="28346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CSP headers restrict script sources, connection origins, and image sources — blocking injection attacks at the browser level.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274320" y="3675888"/>
            <a:ext cx="2816352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65760" y="37856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💾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868680" y="376732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Ephemeral Session State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68680" y="411480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backend database. Patient interaction data lives only in device localStorage, cleared on session refresh.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218688" y="3675888"/>
            <a:ext cx="2816352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310128" y="37856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🚫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3813048" y="376732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Closed AI Domain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813048" y="411480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LLM is mathematically constrained to respond only from the curriculum context block — hallucinations are structurally impossible.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163056" y="3675888"/>
            <a:ext cx="2816352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254496" y="37856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🧹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6757416" y="376732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Hygiene Protocol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757416" y="411480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Medical-grade disinfectant wipes (Purple Top Sani-Cloths) between every patient — documented in our IRB protocol.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0" y="4882896"/>
            <a:ext cx="9006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8C8C"/>
                </a:solidFill>
              </a:rPr>
              <a:t>EMPOWER-CKM Navigator  |  MetroWest Medical Center  |  2026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201168" y="0"/>
            <a:ext cx="8942832" cy="960120"/>
          </a:xfrm>
          <a:prstGeom prst="rect">
            <a:avLst/>
          </a:prstGeom>
          <a:solidFill>
            <a:srgbClr val="990000"/>
          </a:solidFill>
          <a:ln w="12700">
            <a:solidFill>
              <a:srgbClr val="99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38912" y="731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IRB Study Design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38912" y="576072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EMPOWER-CKM — A Prospective Quality Improvement Study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078992"/>
            <a:ext cx="411480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1887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10E2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Full Title: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11480" y="139903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Educating and Motivating Patients On Wellness through Effective Resident-led CKM-guidance via the CKM Navigator Web Application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11480" y="196596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10E2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Design: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11480" y="217627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Prospective Quality Improvement — Pre-Post Intervention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1480" y="27432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10E2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Setting: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11480" y="295351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MetroWest Medical Center Resident Continuity Clinic, Framingham, MA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11480" y="352044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10E2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Timeline: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11480" y="373075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I: Jan 2026 (Pre-survey + Training)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II: Jan–Mar 2026 (Intervention)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III: Apr 2026 (Post-survey + Analysis)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11480" y="429768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10E2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Target N: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1480" y="450799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Residents: 20–25  ·  Patient Encounters: 50–100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1078992"/>
            <a:ext cx="420624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617720" y="1078992"/>
            <a:ext cx="4206240" cy="347472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709160" y="107899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Study Endpoints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54880" y="153619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PRIMARY ENDPOINT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1828800"/>
            <a:ext cx="3931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Change in resident-reported confidence scores for CKM education (5-point Likert scale). Hypothesis: ≥25% improvement post-intervention.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Domains assessed: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· Explaining the CKM connection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· Counseling on the Plate Method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· Navigating language barriers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617720" y="3246120"/>
            <a:ext cx="4206240" cy="18288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754880" y="33101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SECONDARY ENDPOINT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754880" y="3584448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Tool adoption rate and qualitative resident feedback.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Target engagement: &gt;80% module completion per encounter.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Statistical analysis: Student's t-test (α = 0.05, two-tailed).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0" y="4882896"/>
            <a:ext cx="9006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8C8C"/>
                </a:solidFill>
              </a:rPr>
              <a:t>EMPOWER-CKM Navigator  |  MetroWest Medical Center  |  2026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201168" y="0"/>
            <a:ext cx="8942832" cy="960120"/>
          </a:xfrm>
          <a:prstGeom prst="rect">
            <a:avLst/>
          </a:prstGeom>
          <a:solidFill>
            <a:srgbClr val="990000"/>
          </a:solidFill>
          <a:ln w="12700">
            <a:solidFill>
              <a:srgbClr val="99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38912" y="731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Study Population &amp; Eligibility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38912" y="576072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Prospective Enrollment — Continuity Clinic Patients with CKM Stage 1 or 2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078992"/>
            <a:ext cx="4114800" cy="33375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" y="1078992"/>
            <a:ext cx="4114800" cy="384048"/>
          </a:xfrm>
          <a:prstGeom prst="rect">
            <a:avLst/>
          </a:prstGeom>
          <a:solidFill>
            <a:srgbClr val="2E7D52"/>
          </a:solidFill>
          <a:ln w="12700">
            <a:solidFill>
              <a:srgbClr val="2E7D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10789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✓  INCLUSION CRITERIA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1480" y="1618488"/>
            <a:ext cx="164592" cy="164592"/>
          </a:xfrm>
          <a:prstGeom prst="ellipse">
            <a:avLst/>
          </a:prstGeom>
          <a:solidFill>
            <a:srgbClr val="2E7D52"/>
          </a:solidFill>
          <a:ln w="12700">
            <a:solidFill>
              <a:srgbClr val="2E7D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58368" y="1572768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Adults ≥18 years seen in the resident continuity clinic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" y="2441448"/>
            <a:ext cx="164592" cy="164592"/>
          </a:xfrm>
          <a:prstGeom prst="ellipse">
            <a:avLst/>
          </a:prstGeom>
          <a:solidFill>
            <a:srgbClr val="2E7D52"/>
          </a:solidFill>
          <a:ln w="12700">
            <a:solidFill>
              <a:srgbClr val="2E7D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58368" y="2395728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CKM Stage 1: BMI ≥25 kg/m² or abdominal obesity without other metabolic risk factors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1480" y="3264408"/>
            <a:ext cx="164592" cy="164592"/>
          </a:xfrm>
          <a:prstGeom prst="ellipse">
            <a:avLst/>
          </a:prstGeom>
          <a:solidFill>
            <a:srgbClr val="2E7D52"/>
          </a:solidFill>
          <a:ln w="12700">
            <a:solidFill>
              <a:srgbClr val="2E7D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58368" y="3218688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CKM Stage 2 — any of: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· Hypertension (BP ≥130/80 mmHg)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· Hypertriglyceridemia (TG ≥135 mg/dL)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· Prediabetes (HbA1c 5.7–6.4%)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· Metabolic Syndrome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17720" y="1078992"/>
            <a:ext cx="4206240" cy="33375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617720" y="1078992"/>
            <a:ext cx="4206240" cy="384048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709160" y="107899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✗  EXCLUSION CRITERIA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54880" y="1618488"/>
            <a:ext cx="164592" cy="164592"/>
          </a:xfrm>
          <a:prstGeom prst="ellipse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010912" y="1572768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Emergent medical conditions requiring ED transfer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0" y="2368296"/>
            <a:ext cx="164592" cy="164592"/>
          </a:xfrm>
          <a:prstGeom prst="ellipse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10912" y="2322576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Severe visual impairment or significant cognitive decline (e.g., advanced dementia) precluding meaningful engagement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54880" y="3118104"/>
            <a:ext cx="164592" cy="164592"/>
          </a:xfrm>
          <a:prstGeom prst="ellipse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010912" y="3072384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Children (&lt;18 years)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3867912"/>
            <a:ext cx="164592" cy="164592"/>
          </a:xfrm>
          <a:prstGeom prst="ellipse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010912" y="3822192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specific targeting of prisoners or pregnant women (may be incidentally included without increased risk)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74320" y="4553712"/>
            <a:ext cx="8549640" cy="347472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57200" y="4553712"/>
            <a:ext cx="8366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Chart review indicates &gt;60% of the clinic panel meets Stage 1 or 2 criteria — ensuring adequate recruitment without external advertisement.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0" y="4882896"/>
            <a:ext cx="9006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8C8C"/>
                </a:solidFill>
              </a:rPr>
              <a:t>EMPOWER-CKM Navigator  |  MetroWest Medical Center  |  2026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201168" y="0"/>
            <a:ext cx="8942832" cy="960120"/>
          </a:xfrm>
          <a:prstGeom prst="rect">
            <a:avLst/>
          </a:prstGeom>
          <a:solidFill>
            <a:srgbClr val="990000"/>
          </a:solidFill>
          <a:ln w="12700">
            <a:solidFill>
              <a:srgbClr val="99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38912" y="731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Intervention Workflow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38912" y="576072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the CKM Navigator is Used During a Clinic Encounter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078992"/>
            <a:ext cx="2715768" cy="16184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" y="1078992"/>
            <a:ext cx="2715768" cy="384048"/>
          </a:xfrm>
          <a:prstGeom prst="rect">
            <a:avLst/>
          </a:prstGeom>
          <a:solidFill>
            <a:srgbClr val="990000"/>
          </a:solidFill>
          <a:ln w="12700">
            <a:solidFill>
              <a:srgbClr val="99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1078992"/>
            <a:ext cx="2532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 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84048" y="15087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Pre-Chart Review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84048" y="1837944"/>
            <a:ext cx="2468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Resident identifies eligible patients via vital signs (BMI, BP) and problem list (pre-DM, HTN, HLD) before the encounter.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72968" y="1078992"/>
            <a:ext cx="2715768" cy="16184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172968" y="1078992"/>
            <a:ext cx="2715768" cy="384048"/>
          </a:xfrm>
          <a:prstGeom prst="rect">
            <a:avLst/>
          </a:prstGeom>
          <a:solidFill>
            <a:srgbClr val="990000"/>
          </a:solidFill>
          <a:ln w="12700">
            <a:solidFill>
              <a:srgbClr val="99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64408" y="1078992"/>
            <a:ext cx="2532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 🗣️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282696" y="15087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Verbal Assent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282696" y="1837944"/>
            <a:ext cx="2468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Resident offers the tool as part of routine counseling. Scripted waiver-based verbal assent (45 CFR 46.117(c)(2)).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71616" y="1078992"/>
            <a:ext cx="2715768" cy="16184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071616" y="1078992"/>
            <a:ext cx="2715768" cy="384048"/>
          </a:xfrm>
          <a:prstGeom prst="rect">
            <a:avLst/>
          </a:prstGeom>
          <a:solidFill>
            <a:srgbClr val="990000"/>
          </a:solidFill>
          <a:ln w="12700">
            <a:solidFill>
              <a:srgbClr val="99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163056" y="1078992"/>
            <a:ext cx="2532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 🌐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181344" y="15087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Language Selection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181344" y="1837944"/>
            <a:ext cx="2468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Patient and resident together select English, Spanish, or Portuguese. Culturally specific examples load automatically.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2834640"/>
            <a:ext cx="2715768" cy="16184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74320" y="2834640"/>
            <a:ext cx="2715768" cy="384048"/>
          </a:xfrm>
          <a:prstGeom prst="rect">
            <a:avLst/>
          </a:prstGeom>
          <a:solidFill>
            <a:srgbClr val="990000"/>
          </a:solidFill>
          <a:ln w="12700">
            <a:solidFill>
              <a:srgbClr val="99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65760" y="2834640"/>
            <a:ext cx="2532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 📱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84048" y="326440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Facilitated Session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84048" y="3593592"/>
            <a:ext cx="2468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Resident navigates the 6-module curriculum on the iPad with the patient. Duration is flexible (5–30 min).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172968" y="2834640"/>
            <a:ext cx="2715768" cy="16184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172968" y="2834640"/>
            <a:ext cx="2715768" cy="384048"/>
          </a:xfrm>
          <a:prstGeom prst="rect">
            <a:avLst/>
          </a:prstGeom>
          <a:solidFill>
            <a:srgbClr val="990000"/>
          </a:solidFill>
          <a:ln w="12700">
            <a:solidFill>
              <a:srgbClr val="99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264408" y="2834640"/>
            <a:ext cx="2532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 🧬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282696" y="326440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Staging &amp; Passport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3282696" y="3593592"/>
            <a:ext cx="2468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Optional: Complete the CKM staging quiz to generate a Doctor Passport — a personalized, non-diagnostic educational summary.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071616" y="2834640"/>
            <a:ext cx="2715768" cy="16184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6071616" y="2834640"/>
            <a:ext cx="2715768" cy="384048"/>
          </a:xfrm>
          <a:prstGeom prst="rect">
            <a:avLst/>
          </a:prstGeom>
          <a:solidFill>
            <a:srgbClr val="990000"/>
          </a:solidFill>
          <a:ln w="12700">
            <a:solidFill>
              <a:srgbClr val="99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163056" y="2834640"/>
            <a:ext cx="2532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 📝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181344" y="326440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De-identified Tally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181344" y="3593592"/>
            <a:ext cx="2468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Resident records: Language used, modules covered — on an anonymous tally sheet at the workstation. No PHI collected.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0" y="4882896"/>
            <a:ext cx="9006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8C8C"/>
                </a:solidFill>
              </a:rPr>
              <a:t>EMPOWER-CKM Navigator  |  MetroWest Medical Center  |  2026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201168" y="0"/>
            <a:ext cx="8942832" cy="960120"/>
          </a:xfrm>
          <a:prstGeom prst="rect">
            <a:avLst/>
          </a:prstGeom>
          <a:solidFill>
            <a:srgbClr val="990000"/>
          </a:solidFill>
          <a:ln w="12700">
            <a:solidFill>
              <a:srgbClr val="99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38912" y="731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Your Role: Pre &amp; Post Questionnaires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38912" y="576072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Measuring What Matters — Resident Confidence as the Primary Outcome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078992"/>
            <a:ext cx="4114800" cy="36393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" y="1078992"/>
            <a:ext cx="4114800" cy="411480"/>
          </a:xfrm>
          <a:prstGeom prst="rect">
            <a:avLst/>
          </a:prstGeom>
          <a:solidFill>
            <a:srgbClr val="990000"/>
          </a:solidFill>
          <a:ln w="12700">
            <a:solidFill>
              <a:srgbClr val="99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107899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PRE-INTERVENTION SURVEY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38912" y="1581912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C10E2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Complete NOW (January 2026)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This brief, anonymous Google Form captures your BASELINE confidence in: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· Explaining CKM health to a patient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· Counseling on nutrition (Plate Method)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· Addressing language/health literacy barriers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· Using digital tools for patient education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Approximately 5 minutes to complete.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Completely anonymous — no identifying information collected.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4315968"/>
            <a:ext cx="4114800" cy="365760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5760" y="431596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&gt;&gt; forms.gle/QQWrej2tzKRepRoFA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17720" y="1078992"/>
            <a:ext cx="4206240" cy="36393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617720" y="1078992"/>
            <a:ext cx="4206240" cy="41148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709160" y="107899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POST-INTERVENTION SURVEY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54880" y="1581912"/>
            <a:ext cx="39319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Complete in April 2026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After 3 months of using the CKM Navigator in clinic, the same anonymous domains are re-assessed.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Primary hypothesis: ≥25% improvement in mean confidence score across all domains.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Your feedback also shapes the next iteration of the tool — we specifically want to hear: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· Did it save you time?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· Did patients engage with it?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· What would make it better?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17720" y="4315968"/>
            <a:ext cx="4206240" cy="365760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709160" y="431596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&gt;&gt; forms.gle/2r6g14WzeTBCaPH26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0" y="4882896"/>
            <a:ext cx="9006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8C8C"/>
                </a:solidFill>
              </a:rPr>
              <a:t>EMPOWER-CKM Navigator  |  MetroWest Medical Center  |  2026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201168" y="0"/>
            <a:ext cx="8942832" cy="960120"/>
          </a:xfrm>
          <a:prstGeom prst="rect">
            <a:avLst/>
          </a:prstGeom>
          <a:solidFill>
            <a:srgbClr val="990000"/>
          </a:solidFill>
          <a:ln w="12700">
            <a:solidFill>
              <a:srgbClr val="99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38912" y="731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Risk Mitigation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38912" y="576072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Minimal Risk Designation — Comprehensive Safeguards in Place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078992"/>
            <a:ext cx="854964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760" y="11704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🦠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60120" y="1078992"/>
            <a:ext cx="1005840" cy="320040"/>
          </a:xfrm>
          <a:prstGeom prst="rect">
            <a:avLst/>
          </a:prstGeom>
          <a:solidFill>
            <a:srgbClr val="2E7D52"/>
          </a:solidFill>
          <a:ln w="12700">
            <a:solidFill>
              <a:srgbClr val="2E7D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60120" y="1078992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MINIMAL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9601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Physical: Pathogen Transmission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17373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05C5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Risk: iPad surface contamination between patients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09160" y="17190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Mitigation: Medical-grade disinfectant wipes (Purple Top Sani-Cloths) before and after every patient encounter — exceeds standard daily-life hygiene threshold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2267712"/>
            <a:ext cx="854964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65760" y="2359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😟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60120" y="2267712"/>
            <a:ext cx="1005840" cy="320040"/>
          </a:xfrm>
          <a:prstGeom prst="rect">
            <a:avLst/>
          </a:prstGeom>
          <a:solidFill>
            <a:srgbClr val="2E7D52"/>
          </a:solidFill>
          <a:ln w="12700">
            <a:solidFill>
              <a:srgbClr val="2E7D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60120" y="2267712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MINIMAL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960120" y="2606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Psychological: Health Anxiety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60120" y="29260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05C5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Risk: Patient anxiety related to 'organ damage' concepts or staging results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09160" y="290779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Mitigation: The tool is used with a physician present at all times to provide positive framing. AI chatbot operates in strict closed-domain mode — cannot generate alarming extrapolations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74320" y="3456432"/>
            <a:ext cx="854964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65760" y="35478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🔒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60120" y="3456432"/>
            <a:ext cx="1005840" cy="320040"/>
          </a:xfrm>
          <a:prstGeom prst="rect">
            <a:avLst/>
          </a:prstGeom>
          <a:solidFill>
            <a:srgbClr val="1C7C6B"/>
          </a:solidFill>
          <a:ln w="12700">
            <a:solidFill>
              <a:srgbClr val="1C7C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60120" y="3456432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NEGLIGIBLE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960120" y="37947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Privacy: Data Breach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60120" y="411480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05C5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Risk: Breach of patient confidentiality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709160" y="409651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Mitigation: No PHI entered. Backend acts only as AI proxy — no patient identifiers stored. Client-side state is ephemeral and cleared by browser refresh between patients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0" y="4882896"/>
            <a:ext cx="9006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8C8C"/>
                </a:solidFill>
              </a:rPr>
              <a:t>EMPOWER-CKM Navigator  |  MetroWest Medical Center  |  2026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10E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201168" y="0"/>
            <a:ext cx="8942832" cy="960120"/>
          </a:xfrm>
          <a:prstGeom prst="rect">
            <a:avLst/>
          </a:prstGeom>
          <a:solidFill>
            <a:srgbClr val="990000"/>
          </a:solidFill>
          <a:ln w="12700">
            <a:solidFill>
              <a:srgbClr val="99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38912" y="731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to Access the App &amp; Get Involved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" y="1078992"/>
            <a:ext cx="4251960" cy="3794760"/>
          </a:xfrm>
          <a:prstGeom prst="rect">
            <a:avLst/>
          </a:prstGeom>
          <a:solidFill>
            <a:srgbClr val="C10E21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120700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🌐  Access the App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11480" y="1664208"/>
            <a:ext cx="3840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CKM Navigator is a web-based progressive web app (PWA) — no installation required.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Open any browser on the clinic iPad (or your own phone/laptop) and navigate to the app URL.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app works offline thanks to service worker caching — clinic Wi-Fi interruptions will not disrupt an active session.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iPads are available at the Firm B workroom for the duration of the study.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01168" y="4343400"/>
            <a:ext cx="4251960" cy="45720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43434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10E2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📱  Training Session: 30 minutes during Oyster Rounds or Ambulatory Block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81728" y="1078992"/>
            <a:ext cx="4251960" cy="3794760"/>
          </a:xfrm>
          <a:prstGeom prst="rect">
            <a:avLst/>
          </a:prstGeom>
          <a:solidFill>
            <a:srgbClr val="C10E21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64608" y="120700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🙌  Three Ways to Help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864608" y="171907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864608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10E2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349240" y="1737360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Complete the Pre-Survey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349240" y="2084832"/>
            <a:ext cx="3429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 minutes, anonymous. Establishes your baseline confidence before you start using the app.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864608" y="272491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64608" y="2724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10E2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49240" y="2743200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Try it in Clinic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349240" y="3090672"/>
            <a:ext cx="3429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Use the CKM Navigator in your next continuity clinic with an eligible patient. Speak with the team if you need a demo.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864608" y="373075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64608" y="3730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10E2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349240" y="3749040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Provide Feedback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349240" y="4096512"/>
            <a:ext cx="3429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Your qualitative experience — what worked, what didn't, what could be added — directly shapes the tool's next version.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0" y="4882896"/>
            <a:ext cx="9006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8C8C"/>
                </a:solidFill>
              </a:rPr>
              <a:t>EMPOWER-CKM Navigator  |  MetroWest Medical Center  |  2026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201168" y="0"/>
            <a:ext cx="8942832" cy="960120"/>
          </a:xfrm>
          <a:prstGeom prst="rect">
            <a:avLst/>
          </a:prstGeom>
          <a:solidFill>
            <a:srgbClr val="990000"/>
          </a:solidFill>
          <a:ln w="12700">
            <a:solidFill>
              <a:srgbClr val="99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38912" y="731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Note for Program Leadership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38912" y="576072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Institutional Value, Educational Impact &amp; Future Vision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41605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" y="1097280"/>
            <a:ext cx="164592" cy="1627632"/>
          </a:xfrm>
          <a:prstGeom prst="rect">
            <a:avLst/>
          </a:prstGeom>
          <a:solidFill>
            <a:srgbClr val="990000"/>
          </a:solidFill>
          <a:ln w="12700">
            <a:solidFill>
              <a:srgbClr val="99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30352" y="12618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🏆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170432" y="12344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Milestone Competencies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70432" y="16459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CKM Navigator directly addresses ACGME milestones in patient education, health literacy, and practice-based learning. Resident participation contributes to documented ambulatory care competency.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1097280"/>
            <a:ext cx="41605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709160" y="1097280"/>
            <a:ext cx="164592" cy="1627632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965192" y="12618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💰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605272" y="12344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Zero Cost to Institution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605272" y="16459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Built entirely using AI-assisted coding CLIs at no vendor cost. The app runs on existing clinic hardware (iPads) and open-source infrastructure. Hosting cost is negligible.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" y="2926080"/>
            <a:ext cx="41605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74320" y="2926080"/>
            <a:ext cx="164592" cy="1627632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30352" y="30906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📰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1170432" y="30632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Publication Potential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70432" y="3474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Pre-post QI data from 20-25 residents and 50-100 patient encounters is statistically powered for internal medicine journal submission (e.g., JGIM, AIM, GME-focused venues).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709160" y="2926080"/>
            <a:ext cx="41605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709160" y="2926080"/>
            <a:ext cx="164592" cy="1627632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965192" y="30906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🌱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605272" y="30632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Scalable Model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605272" y="3474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'Clinician-Coder-Builder' methodology is reproducible at any residency program. This project serves as a proof-of-concept that frontline physicians can develop robust digital health tools without IT department support.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74320" y="4681728"/>
            <a:ext cx="8549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We welcome faculty advisors, core faculty mentors, and program coordinator support. Please speak with any member of the team.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0" y="4882896"/>
            <a:ext cx="9006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8C8C"/>
                </a:solidFill>
              </a:rPr>
              <a:t>EMPOWER-CKM Navigator  |  MetroWest Medical Center  |  2026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201168" y="0"/>
            <a:ext cx="8942832" cy="960120"/>
          </a:xfrm>
          <a:prstGeom prst="rect">
            <a:avLst/>
          </a:prstGeom>
          <a:solidFill>
            <a:srgbClr val="990000"/>
          </a:solidFill>
          <a:ln w="12700">
            <a:solidFill>
              <a:srgbClr val="99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38912" y="731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Future Directions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38912" y="576072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2 Vision — Expanding Impact Beyond MetroWest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078992"/>
            <a:ext cx="2715768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216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📱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87552" y="121615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Native iPad App (PWA → App Store)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1792224"/>
            <a:ext cx="24505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Formal conversion to an installable iOS app via Progressive Web App → App Store pathway, enabling offline-first use without a browser.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172968" y="1078992"/>
            <a:ext cx="2715768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310128" y="1216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📈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886200" y="121615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Patient Outcomes as a Primary Endpoint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310128" y="1792224"/>
            <a:ext cx="24505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Phase 2 will track longitudinal patient metrics (HbA1c, weight, BP) to connect educational engagement with clinical outcomes.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71616" y="1078992"/>
            <a:ext cx="2715768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208776" y="1216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🌍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784848" y="121615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Expanded Language Support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08776" y="1792224"/>
            <a:ext cx="24505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Addition of Haitian Creole, Mandarin, and Vietnamese locales to serve the full diversity of the MetroWest service area.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2798064"/>
            <a:ext cx="2715768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11480" y="29352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🔗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87552" y="293522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EHR Integration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11480" y="3511296"/>
            <a:ext cx="24505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Exploration of HL7/FHIR-compatible data export from the Doctor Passport to enable structured documentation of patient education in Epic.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172968" y="2798064"/>
            <a:ext cx="2715768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310128" y="29352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🏥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3886200" y="293522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Multi-Site Replication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310128" y="3511296"/>
            <a:ext cx="24505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Open-source release of the codebase to allow other residency programs to fork, customize, and deploy their own CKM Navigator instances.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071616" y="2798064"/>
            <a:ext cx="2715768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208776" y="29352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🤝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6784848" y="293522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9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Community Health Worker Partnerships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208776" y="3511296"/>
            <a:ext cx="24505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Extend access beyond the clinic by equipping trained community health workers to use the Navigator in home visit and pharmacy settings.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0" y="4882896"/>
            <a:ext cx="9006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8C8C"/>
                </a:solidFill>
              </a:rPr>
              <a:t>EMPOWER-CKM Navigator  |  MetroWest Medical Center  |  2026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201168" y="0"/>
            <a:ext cx="8942832" cy="960120"/>
          </a:xfrm>
          <a:prstGeom prst="rect">
            <a:avLst/>
          </a:prstGeom>
          <a:solidFill>
            <a:srgbClr val="990000"/>
          </a:solidFill>
          <a:ln w="12700">
            <a:solidFill>
              <a:srgbClr val="99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38912" y="731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References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47472" y="1170432"/>
            <a:ext cx="8458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1.  Ndumele CE, et al. A Presidential Advisory from the American Heart Association on Cardiovascular-Kidney-Metabolic Health: A Scientific Statement. Circulation. 2023;148(20):1606–1635.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47472" y="1591056"/>
            <a:ext cx="8458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47472" y="1673352"/>
            <a:ext cx="8458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2.  Hoffmann T, Worrall L. Designing effective written health education materials: considerations for health professionals. J Clin Nurs. 2004;13(5):587–594.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7472" y="2093976"/>
            <a:ext cx="8458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47472" y="2176272"/>
            <a:ext cx="8458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3.  Al Shamsi H, et al. Implications of Language Barriers for Healthcare: A Systematic Review. Oman Med J. 2020;35(2):e122.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" y="2596896"/>
            <a:ext cx="8458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7472" y="2679192"/>
            <a:ext cx="8458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4.  American Diabetes Association. The Diabetes Plate Method. Diabetes Food Hub. Available at: diabetesfoodhub.org.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7472" y="3099816"/>
            <a:ext cx="8458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47472" y="3182112"/>
            <a:ext cx="8458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5.  Piercy KL, Troiano RP, et al. The Physical Activity Guidelines for Americans. JAMA. 2018;320(19):2020–2028.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7472" y="3602736"/>
            <a:ext cx="8458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47472" y="3685032"/>
            <a:ext cx="8458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6.  Lewis C, et al. Health Literacy and Patient Outcomes: A Systematic Review. Am J Health Educ. 2021.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47472" y="4105656"/>
            <a:ext cx="8458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47472" y="4187952"/>
            <a:ext cx="8458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31F2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7.  Topol EJ. High-performance medicine: the convergence of human and artificial intelligence. Nat Med. 2019;25:44–56.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0" y="4882896"/>
            <a:ext cx="9006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C8C8C"/>
                </a:solidFill>
              </a:rPr>
              <a:t>EMPOWER-CKM Navigator  |  MetroWest Medical Center  |  2026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10E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8979408" cy="1463040"/>
          </a:xfrm>
          <a:prstGeom prst="rect">
            <a:avLst/>
          </a:prstGeom>
          <a:solidFill>
            <a:srgbClr val="990000"/>
          </a:solidFill>
          <a:ln w="12700">
            <a:solidFill>
              <a:srgbClr val="99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91440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Thank You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02920" y="82296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Questions, Feedback &amp; Collaboration Welcome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74320" y="1572768"/>
            <a:ext cx="2724912" cy="822960"/>
          </a:xfrm>
          <a:prstGeom prst="rect">
            <a:avLst/>
          </a:prstGeom>
          <a:solidFill>
            <a:srgbClr val="C10E21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" y="1572768"/>
            <a:ext cx="164592" cy="82296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30352" y="16459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Sokratis Zisis, MD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0352" y="193852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PGY-3, Co-PI  ·  Clinical Lead &amp; Architecture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82112" y="1572768"/>
            <a:ext cx="2724912" cy="822960"/>
          </a:xfrm>
          <a:prstGeom prst="rect">
            <a:avLst/>
          </a:prstGeom>
          <a:solidFill>
            <a:srgbClr val="C10E21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182112" y="1572768"/>
            <a:ext cx="164592" cy="82296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438144" y="16459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Thomas Tsai, MD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38144" y="193852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PGY-3, Co-PI  ·  Development Lead &amp; IRB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89904" y="1572768"/>
            <a:ext cx="2724912" cy="822960"/>
          </a:xfrm>
          <a:prstGeom prst="rect">
            <a:avLst/>
          </a:prstGeom>
          <a:solidFill>
            <a:srgbClr val="C10E21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089904" y="1572768"/>
            <a:ext cx="164592" cy="82296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345936" y="16459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Juan Villareal del Moral, MD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45936" y="193852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PGY-2  ·  Spanish Curriculum Lead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74320" y="2532888"/>
            <a:ext cx="2724912" cy="822960"/>
          </a:xfrm>
          <a:prstGeom prst="rect">
            <a:avLst/>
          </a:prstGeom>
          <a:solidFill>
            <a:srgbClr val="C10E21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74320" y="2532888"/>
            <a:ext cx="164592" cy="82296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30352" y="26060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Kate Ji-Yoon Lee, MD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30352" y="289864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PGY-2  ·  Content &amp; Validation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182112" y="2532888"/>
            <a:ext cx="2724912" cy="822960"/>
          </a:xfrm>
          <a:prstGeom prst="rect">
            <a:avLst/>
          </a:prstGeom>
          <a:solidFill>
            <a:srgbClr val="C10E21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182112" y="2532888"/>
            <a:ext cx="164592" cy="82296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438144" y="26060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Lucca Gesteira, MD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438144" y="289864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PGY-1  ·  Portuguese Curriculum Lead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089904" y="2532888"/>
            <a:ext cx="2724912" cy="822960"/>
          </a:xfrm>
          <a:prstGeom prst="rect">
            <a:avLst/>
          </a:prstGeom>
          <a:solidFill>
            <a:srgbClr val="C10E21"/>
          </a:solidFill>
          <a:ln w="9525">
            <a:solidFill>
              <a:srgbClr val="D9D9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089904" y="2532888"/>
            <a:ext cx="164592" cy="822960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345936" y="26060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Maysa Vilbert, MD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345936" y="289864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PGY-1  ·  UX &amp; Patient Engagement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164592" y="4462272"/>
            <a:ext cx="8979408" cy="667512"/>
          </a:xfrm>
          <a:prstGeom prst="rect">
            <a:avLst/>
          </a:prstGeom>
          <a:solidFill>
            <a:srgbClr val="C10E21"/>
          </a:solidFill>
          <a:ln w="12700">
            <a:solidFill>
              <a:srgbClr val="C10E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47472" y="4462272"/>
            <a:ext cx="8595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10E2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Pre-Survey: </a:t>
            </a:r>
            <a:r>
              <a:rPr lang="en-US" sz="1200" dirty="0">
                <a:solidFill>
                  <a:srgbClr val="C10E2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forms.gle/QQWrej2tzKRepRoFA     </a:t>
            </a:r>
            <a:r>
              <a:rPr lang="en-US" sz="1200" b="1" dirty="0">
                <a:solidFill>
                  <a:srgbClr val="C10E2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Post-Survey: </a:t>
            </a:r>
            <a:r>
              <a:rPr lang="en-US" sz="1200" dirty="0">
                <a:solidFill>
                  <a:srgbClr val="C10E2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forms.gle/2r6g14WzeTBCaPH26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3122</Words>
  <Application>Microsoft Macintosh PowerPoint</Application>
  <PresentationFormat>On-screen Show (16:9)</PresentationFormat>
  <Paragraphs>444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Century Gothic</vt:lpstr>
      <vt:lpstr>Helvetica Neue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EMPOWER-CKM Navigator — Grand Rounds Introduction</dc:title>
  <dc:subject>Resident Quality Improvement Project</dc:subject>
  <dc:creator>EMPOWER-CKM Resident Team</dc:creator>
  <cp:lastModifiedBy>TSAI, THOMAS</cp:lastModifiedBy>
  <cp:revision>4</cp:revision>
  <dcterms:created xsi:type="dcterms:W3CDTF">2026-02-23T20:20:09Z</dcterms:created>
  <dcterms:modified xsi:type="dcterms:W3CDTF">2026-02-23T20:46:02Z</dcterms:modified>
</cp:coreProperties>
</file>